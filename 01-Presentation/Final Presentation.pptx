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1" r:id="rId2"/>
    <p:sldId id="282" r:id="rId3"/>
    <p:sldId id="272" r:id="rId4"/>
    <p:sldId id="284" r:id="rId5"/>
    <p:sldId id="294" r:id="rId6"/>
    <p:sldId id="285" r:id="rId7"/>
    <p:sldId id="295" r:id="rId8"/>
    <p:sldId id="286" r:id="rId9"/>
    <p:sldId id="289" r:id="rId10"/>
    <p:sldId id="287" r:id="rId11"/>
    <p:sldId id="297" r:id="rId12"/>
    <p:sldId id="298" r:id="rId13"/>
    <p:sldId id="301" r:id="rId14"/>
    <p:sldId id="302" r:id="rId15"/>
    <p:sldId id="299" r:id="rId16"/>
    <p:sldId id="303" r:id="rId17"/>
    <p:sldId id="304" r:id="rId18"/>
    <p:sldId id="305" r:id="rId19"/>
    <p:sldId id="308" r:id="rId20"/>
    <p:sldId id="309" r:id="rId21"/>
    <p:sldId id="310" r:id="rId22"/>
    <p:sldId id="311" r:id="rId23"/>
    <p:sldId id="313" r:id="rId24"/>
    <p:sldId id="314" r:id="rId25"/>
    <p:sldId id="306" r:id="rId26"/>
    <p:sldId id="307" r:id="rId27"/>
    <p:sldId id="288" r:id="rId28"/>
  </p:sldIdLst>
  <p:sldSz cx="9144000" cy="6858000" type="screen4x3"/>
  <p:notesSz cx="9926638" cy="6797675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3828B3A7-F60A-4B7A-9425-3AB0DDB3A5E7}">
          <p14:sldIdLst>
            <p14:sldId id="281"/>
          </p14:sldIdLst>
        </p14:section>
        <p14:section name="Introduction" id="{C8CE4D5C-C0D3-4C42-BF90-BAA18E3629AB}">
          <p14:sldIdLst>
            <p14:sldId id="282"/>
            <p14:sldId id="272"/>
          </p14:sldIdLst>
        </p14:section>
        <p14:section name="Dataset" id="{01755FE2-A1BE-4B8F-B1CE-CE3380DDC954}">
          <p14:sldIdLst>
            <p14:sldId id="284"/>
            <p14:sldId id="294"/>
          </p14:sldIdLst>
        </p14:section>
        <p14:section name="Exploratory Data Analysis" id="{69F59B38-A3C2-4C78-9D63-7F3B0B3CAA01}">
          <p14:sldIdLst>
            <p14:sldId id="285"/>
            <p14:sldId id="295"/>
            <p14:sldId id="286"/>
            <p14:sldId id="289"/>
          </p14:sldIdLst>
        </p14:section>
        <p14:section name="EfficientNet Model" id="{BFD01489-7BBB-4728-A299-68DDF9DEAC18}">
          <p14:sldIdLst>
            <p14:sldId id="287"/>
            <p14:sldId id="297"/>
            <p14:sldId id="298"/>
            <p14:sldId id="301"/>
            <p14:sldId id="302"/>
          </p14:sldIdLst>
        </p14:section>
        <p14:section name="Fine Tuning models" id="{9EEE5041-E04D-4D96-8436-747D8C407DB5}">
          <p14:sldIdLst>
            <p14:sldId id="299"/>
            <p14:sldId id="303"/>
            <p14:sldId id="304"/>
            <p14:sldId id="305"/>
            <p14:sldId id="308"/>
            <p14:sldId id="309"/>
            <p14:sldId id="310"/>
          </p14:sldIdLst>
        </p14:section>
        <p14:section name="Scratch Model" id="{1CA73814-A0A4-4312-9F5B-39B526C8D030}">
          <p14:sldIdLst>
            <p14:sldId id="311"/>
            <p14:sldId id="313"/>
            <p14:sldId id="314"/>
            <p14:sldId id="306"/>
            <p14:sldId id="307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27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us Gerke" initials="M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E00"/>
    <a:srgbClr val="049472"/>
    <a:srgbClr val="005374"/>
    <a:srgbClr val="CC0099"/>
    <a:srgbClr val="33CC33"/>
    <a:srgbClr val="009900"/>
    <a:srgbClr val="FFCD00"/>
    <a:srgbClr val="7CCDE6"/>
    <a:srgbClr val="0080B4"/>
    <a:srgbClr val="C6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89016" autoAdjust="0"/>
  </p:normalViewPr>
  <p:slideViewPr>
    <p:cSldViewPr>
      <p:cViewPr varScale="1">
        <p:scale>
          <a:sx n="73" d="100"/>
          <a:sy n="73" d="100"/>
        </p:scale>
        <p:origin x="1906" y="91"/>
      </p:cViewPr>
      <p:guideLst>
        <p:guide orient="horz" pos="459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D0860-42B8-4AF1-8A83-097607F22735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03C74-EE0D-4366-9AF9-8F4659C4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14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839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defTabSz="955731">
              <a:defRPr sz="1300"/>
            </a:lvl1pPr>
          </a:lstStyle>
          <a:p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81" y="0"/>
            <a:ext cx="4301839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algn="r" defTabSz="955731">
              <a:defRPr sz="1300"/>
            </a:lvl1pPr>
          </a:lstStyle>
          <a:p>
            <a:endParaRPr lang="de-DE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3900" y="509588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221" y="3228553"/>
            <a:ext cx="7942198" cy="305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106"/>
            <a:ext cx="4301839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defTabSz="955731">
              <a:defRPr sz="1300"/>
            </a:lvl1pPr>
          </a:lstStyle>
          <a:p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81" y="6457106"/>
            <a:ext cx="4301839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algn="r" defTabSz="955731">
              <a:defRPr sz="1300"/>
            </a:lvl1pPr>
          </a:lstStyle>
          <a:p>
            <a:fld id="{E4AA6088-1FF0-4E53-845C-EFEDD1C948F8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7250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A6088-1FF0-4E53-845C-EFEDD1C948F8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7876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A6088-1FF0-4E53-845C-EFEDD1C948F8}" type="slidenum">
              <a:rPr lang="de-DE" smtClean="0"/>
              <a:pPr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5753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-braunschweig.de/en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Rectangle 22"/>
          <p:cNvSpPr>
            <a:spLocks noChangeArrowheads="1"/>
          </p:cNvSpPr>
          <p:nvPr userDrawn="1"/>
        </p:nvSpPr>
        <p:spPr bwMode="auto">
          <a:xfrm>
            <a:off x="296863" y="1449388"/>
            <a:ext cx="8550275" cy="26543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noProof="0"/>
              <a:t>Platzhalter für Bild, Bild auf Titelfolie hinter das Logo einsetzen</a:t>
            </a: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>
            <a:off x="287338" y="4103688"/>
            <a:ext cx="8583612" cy="2192337"/>
          </a:xfrm>
          <a:prstGeom prst="rect">
            <a:avLst/>
          </a:prstGeom>
          <a:solidFill>
            <a:srgbClr val="FFF0B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noProof="0"/>
              <a:t>   </a:t>
            </a:r>
          </a:p>
        </p:txBody>
      </p:sp>
      <p:pic>
        <p:nvPicPr>
          <p:cNvPr id="6" name="Picture 16" descr="TU_Braunschweig_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338" y="1438275"/>
            <a:ext cx="8580437" cy="266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3" descr="TUBS_CO_150dpi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41363"/>
            <a:ext cx="2517775" cy="939800"/>
          </a:xfrm>
          <a:prstGeom prst="rect">
            <a:avLst/>
          </a:prstGeom>
          <a:noFill/>
        </p:spPr>
      </p:pic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31850" y="4356100"/>
            <a:ext cx="7772400" cy="873125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 dirty="0"/>
              <a:t>Title of the Presentation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30263" y="5499100"/>
            <a:ext cx="7747000" cy="3333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First Name, Last Name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245" y="672820"/>
            <a:ext cx="1530170" cy="10009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04219E-CCFD-4844-B96A-A1E4E0EEC6F0}"/>
              </a:ext>
            </a:extLst>
          </p:cNvPr>
          <p:cNvSpPr/>
          <p:nvPr userDrawn="1"/>
        </p:nvSpPr>
        <p:spPr>
          <a:xfrm>
            <a:off x="296863" y="6296025"/>
            <a:ext cx="8550275" cy="269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Deep Learning Course, IGP-TUBS,       Dr. -Ing. Mehdi </a:t>
            </a:r>
            <a:r>
              <a:rPr lang="en-US" sz="16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Maboudi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Dr. Pedro </a:t>
            </a:r>
            <a:r>
              <a:rPr lang="en-US" sz="16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Achanccaray</a:t>
            </a:r>
            <a:endParaRPr lang="en-DE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7491F-3306-4304-9977-361BD0C1C3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0263" y="5903913"/>
            <a:ext cx="7747000" cy="33337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 kern="0" dirty="0"/>
              <a:t>Your Institute or Study program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231740" y="2078850"/>
            <a:ext cx="5040560" cy="2745305"/>
          </a:xfrm>
        </p:spPr>
        <p:txBody>
          <a:bodyPr/>
          <a:lstStyle/>
          <a:p>
            <a:pPr lvl="0"/>
            <a:endParaRPr 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513C7-0FC3-49F3-BF18-18BD13323461}"/>
              </a:ext>
            </a:extLst>
          </p:cNvPr>
          <p:cNvSpPr/>
          <p:nvPr userDrawn="1"/>
        </p:nvSpPr>
        <p:spPr>
          <a:xfrm>
            <a:off x="3671900" y="4914165"/>
            <a:ext cx="23852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source: </a:t>
            </a: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link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44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1800" y="111125"/>
            <a:ext cx="8375650" cy="708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431800" y="1042988"/>
            <a:ext cx="8375650" cy="4772025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D6EF-F33D-40F0-9EDE-59FDC981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A7790CA-EC38-4D19-AD22-1C0EAD25B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1620" y="1583163"/>
            <a:ext cx="7671976" cy="405237"/>
          </a:xfr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18D8CC6-64BD-4F15-AEA8-D316DF3CDF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51620" y="2167788"/>
            <a:ext cx="7671976" cy="405237"/>
          </a:xfr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F6F7254-6B14-4298-BD30-2D2B12A496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5474" y="2752413"/>
            <a:ext cx="7671976" cy="405237"/>
          </a:xfr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76EE081-C41B-4D2D-A943-D1BB106D7B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9652" y="3331488"/>
            <a:ext cx="8375650" cy="405237"/>
          </a:xfr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8EE44EB-7CB4-4F9F-9DE4-D0E4602B39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7180" y="3921663"/>
            <a:ext cx="7688122" cy="405237"/>
          </a:xfrm>
        </p:spPr>
        <p:txBody>
          <a:bodyPr anchor="ctr" anchorCtr="0"/>
          <a:lstStyle>
            <a:lvl1pPr marL="285750" indent="-285750">
              <a:buFont typeface="Arial" panose="020B0604020202020204" pitchFamily="34" charset="0"/>
              <a:buChar char="•"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0DF2FE6A-6B45-46FC-809D-9372518497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35474" y="4500738"/>
            <a:ext cx="7688122" cy="405237"/>
          </a:xfrm>
        </p:spPr>
        <p:txBody>
          <a:bodyPr anchor="ctr" anchorCtr="0"/>
          <a:lstStyle>
            <a:lvl1pPr marL="285750" indent="-285750">
              <a:buFont typeface="Arial" panose="020B0604020202020204" pitchFamily="34" charset="0"/>
              <a:buChar char="•"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5C04966-48F9-46CF-B493-475D024CD3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17180" y="5079813"/>
            <a:ext cx="7688122" cy="405237"/>
          </a:xfrm>
        </p:spPr>
        <p:txBody>
          <a:bodyPr anchor="ctr" anchorCtr="0"/>
          <a:lstStyle>
            <a:lvl1pPr marL="285750" indent="-285750">
              <a:buFont typeface="Arial" panose="020B0604020202020204" pitchFamily="34" charset="0"/>
              <a:buChar char="•"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2872E6-A8DE-4CE2-9A01-D920945AC5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7946" y="992988"/>
            <a:ext cx="8375650" cy="405237"/>
          </a:xfrm>
        </p:spPr>
        <p:txBody>
          <a:bodyPr anchor="ctr" anchorCtr="0"/>
          <a:lstStyle>
            <a:lvl1pPr marL="0" indent="0">
              <a:buFontTx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258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1133475"/>
          </a:xfrm>
          <a:prstGeom prst="rect">
            <a:avLst/>
          </a:prstGeom>
          <a:solidFill>
            <a:schemeClr val="hlink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Rectangle 3"/>
          <p:cNvSpPr>
            <a:spLocks noGrp="1" noChangeArrowheads="1"/>
          </p:cNvSpPr>
          <p:nvPr userDrawn="1">
            <p:ph type="body" idx="1"/>
          </p:nvPr>
        </p:nvSpPr>
        <p:spPr bwMode="gray">
          <a:xfrm>
            <a:off x="431800" y="1339851"/>
            <a:ext cx="8370888" cy="4622800"/>
          </a:xfrm>
          <a:noFill/>
        </p:spPr>
        <p:txBody>
          <a:bodyPr/>
          <a:lstStyle/>
          <a:p>
            <a:pPr lvl="1">
              <a:buClr>
                <a:srgbClr val="C0C0C0"/>
              </a:buClr>
            </a:pPr>
            <a:r>
              <a:rPr lang="de-DE" sz="2000" dirty="0" err="1">
                <a:solidFill>
                  <a:srgbClr val="C0C0C0"/>
                </a:solidFill>
              </a:rPr>
              <a:t>Kisuaeli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antux</a:t>
            </a:r>
            <a:r>
              <a:rPr lang="de-DE" sz="2000" dirty="0">
                <a:solidFill>
                  <a:srgbClr val="C0C0C0"/>
                </a:solidFill>
              </a:rPr>
              <a:t> in </a:t>
            </a:r>
            <a:r>
              <a:rPr lang="de-DE" sz="2000" dirty="0" err="1">
                <a:solidFill>
                  <a:srgbClr val="C0C0C0"/>
                </a:solidFill>
              </a:rPr>
              <a:t>weimi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kameran</a:t>
            </a:r>
            <a:r>
              <a:rPr lang="de-DE" sz="2000" dirty="0"/>
              <a:t> </a:t>
            </a:r>
          </a:p>
          <a:p>
            <a:pPr lvl="1">
              <a:buClr>
                <a:srgbClr val="C0C0C0"/>
              </a:buClr>
            </a:pPr>
            <a:r>
              <a:rPr lang="de-DE" sz="2000" dirty="0" err="1">
                <a:solidFill>
                  <a:srgbClr val="C0C0C0"/>
                </a:solidFill>
              </a:rPr>
              <a:t>Populario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falst</a:t>
            </a:r>
            <a:endParaRPr lang="de-DE" sz="2000" dirty="0">
              <a:solidFill>
                <a:srgbClr val="C0C0C0"/>
              </a:solidFill>
            </a:endParaRPr>
          </a:p>
          <a:p>
            <a:pPr lvl="1"/>
            <a:r>
              <a:rPr lang="de-DE" sz="2000" dirty="0" err="1"/>
              <a:t>Quol</a:t>
            </a:r>
            <a:r>
              <a:rPr lang="de-DE" sz="2000" dirty="0"/>
              <a:t> </a:t>
            </a:r>
            <a:r>
              <a:rPr lang="de-DE" sz="2000" dirty="0" err="1"/>
              <a:t>damnarin</a:t>
            </a:r>
            <a:r>
              <a:rPr lang="de-DE" sz="2000" dirty="0"/>
              <a:t> </a:t>
            </a:r>
            <a:r>
              <a:rPr lang="de-DE" sz="2000" dirty="0" err="1"/>
              <a:t>Tropi</a:t>
            </a:r>
            <a:r>
              <a:rPr lang="de-DE" sz="2000" dirty="0"/>
              <a:t> zu </a:t>
            </a:r>
            <a:r>
              <a:rPr lang="de-DE" sz="2000" dirty="0" err="1"/>
              <a:t>klenne</a:t>
            </a:r>
            <a:r>
              <a:rPr lang="de-DE" sz="2000" dirty="0"/>
              <a:t> </a:t>
            </a:r>
            <a:r>
              <a:rPr lang="de-DE" sz="2000" dirty="0" err="1"/>
              <a:t>perdi</a:t>
            </a:r>
            <a:r>
              <a:rPr lang="de-DE" sz="2000" dirty="0"/>
              <a:t> </a:t>
            </a:r>
          </a:p>
          <a:p>
            <a:pPr lvl="1">
              <a:buClr>
                <a:srgbClr val="C0C0C0"/>
              </a:buClr>
            </a:pPr>
            <a:r>
              <a:rPr lang="de-DE" sz="2000" dirty="0" err="1">
                <a:solidFill>
                  <a:srgbClr val="C0C0C0"/>
                </a:solidFill>
              </a:rPr>
              <a:t>Utilira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regau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socht</a:t>
            </a:r>
            <a:r>
              <a:rPr lang="de-DE" sz="2000" dirty="0">
                <a:solidFill>
                  <a:srgbClr val="C0C0C0"/>
                </a:solidFill>
              </a:rPr>
              <a:t> mol sunt</a:t>
            </a:r>
          </a:p>
          <a:p>
            <a:pPr lvl="1">
              <a:buClr>
                <a:srgbClr val="C0C0C0"/>
              </a:buClr>
            </a:pPr>
            <a:r>
              <a:rPr lang="de-DE" sz="2000" dirty="0">
                <a:solidFill>
                  <a:srgbClr val="C0C0C0"/>
                </a:solidFill>
              </a:rPr>
              <a:t>Her </a:t>
            </a:r>
            <a:r>
              <a:rPr lang="de-DE" sz="2000" dirty="0" err="1">
                <a:solidFill>
                  <a:srgbClr val="C0C0C0"/>
                </a:solidFill>
              </a:rPr>
              <a:t>mitant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dur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Wolche</a:t>
            </a:r>
            <a:r>
              <a:rPr lang="de-DE" sz="2000" dirty="0">
                <a:solidFill>
                  <a:srgbClr val="C0C0C0"/>
                </a:solidFill>
              </a:rPr>
              <a:t> to </a:t>
            </a:r>
            <a:r>
              <a:rPr lang="de-DE" sz="2000" dirty="0" err="1">
                <a:solidFill>
                  <a:srgbClr val="C0C0C0"/>
                </a:solidFill>
              </a:rPr>
              <a:t>illemit</a:t>
            </a:r>
            <a:endParaRPr lang="de-DE" sz="2000" dirty="0">
              <a:solidFill>
                <a:srgbClr val="C0C0C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 userDrawn="1"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1038" name="Line 14"/>
          <p:cNvSpPr>
            <a:spLocks noChangeShapeType="1"/>
          </p:cNvSpPr>
          <p:nvPr userDrawn="1"/>
        </p:nvSpPr>
        <p:spPr bwMode="auto">
          <a:xfrm>
            <a:off x="0" y="6091238"/>
            <a:ext cx="9144000" cy="0"/>
          </a:xfrm>
          <a:prstGeom prst="line">
            <a:avLst/>
          </a:prstGeom>
          <a:noFill/>
          <a:ln w="9525">
            <a:solidFill>
              <a:srgbClr val="BE1E3C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1125"/>
            <a:ext cx="83756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42988"/>
            <a:ext cx="837565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44" name="Picture 20" descr="TUBS_CO_70vH_150dpi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5915025"/>
            <a:ext cx="1762125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 userDrawn="1"/>
        </p:nvSpPr>
        <p:spPr>
          <a:xfrm>
            <a:off x="1821600" y="6140450"/>
            <a:ext cx="213359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/>
              <a:t>Deep learning, </a:t>
            </a:r>
            <a:r>
              <a:rPr lang="de-DE" sz="800" dirty="0">
                <a:highlight>
                  <a:srgbClr val="FFFF00"/>
                </a:highlight>
              </a:rPr>
              <a:t>TOPIC</a:t>
            </a:r>
            <a:r>
              <a:rPr lang="de-DE" sz="800" dirty="0"/>
              <a:t>| </a:t>
            </a:r>
            <a:r>
              <a:rPr lang="de-DE" sz="800" dirty="0">
                <a:highlight>
                  <a:srgbClr val="FFFF00"/>
                </a:highlight>
              </a:rPr>
              <a:t>YOUR NAME</a:t>
            </a:r>
            <a:r>
              <a:rPr lang="de-DE" sz="800" baseline="0" dirty="0"/>
              <a:t>| </a:t>
            </a:r>
            <a:r>
              <a:rPr lang="de-DE" sz="800" dirty="0"/>
              <a:t>page</a:t>
            </a:r>
            <a:r>
              <a:rPr lang="de-DE" sz="800" baseline="0" dirty="0"/>
              <a:t> </a:t>
            </a:r>
            <a:fld id="{54091A06-E49E-4F45-A4ED-27B9A60B04AE}" type="slidenum">
              <a:rPr lang="de-DE" sz="800" baseline="0" smtClean="0"/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800" dirty="0"/>
          </a:p>
          <a:p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350" y="5854189"/>
            <a:ext cx="1090395" cy="713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4" r:id="rId4"/>
    <p:sldLayoutId id="2147483660" r:id="rId5"/>
    <p:sldLayoutId id="2147483662" r:id="rId6"/>
    <p:sldLayoutId id="2147483661" r:id="rId7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90500" indent="-188913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2pPr>
      <a:lvl3pPr marL="361950" indent="-169863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3pPr>
      <a:lvl4pPr marL="542925" indent="-179388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4pPr>
      <a:lvl5pPr marL="742950" indent="-1984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1200150" indent="-1984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1657350" indent="-1984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2114550" indent="-1984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2571750" indent="-1984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ep-Learning-IGP-TUBS-SoSe2024/Group_01/blob/Assignment_01_Bug_Fix/Assignments/Assignment%2001/MLRSNet_Assignment%201_Bug_Fix.ipynb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5.11946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1.04381" TargetMode="External"/><Relationship Id="rId2" Type="http://schemas.openxmlformats.org/officeDocument/2006/relationships/hyperlink" Target="https://openaccess.thecvf.com/content_CVPR_2019/papers/Tan_MnasNet_Platform-Aware_Neural_Architecture_Search_for_Mobile_CVPR_2019_paper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709.01507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researchgate.net/figure/Architecture-of-EfficientNet-B0-with-MBConv-as-Basic-building-blocks_fig4_344410350?ref=blog.roboflow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andb.ai/links/dishaxgh/3wl9xc0c" TargetMode="External"/><Relationship Id="rId7" Type="http://schemas.openxmlformats.org/officeDocument/2006/relationships/hyperlink" Target="https://api.wandb.ai/links/nizaanth-raja/d61a8js2" TargetMode="External"/><Relationship Id="rId2" Type="http://schemas.openxmlformats.org/officeDocument/2006/relationships/hyperlink" Target="https://api.wandb.ai/links/dishaxgh/rq2hacf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i.wandb.ai/links/nizaanth-raja/y6ubwxu9" TargetMode="External"/><Relationship Id="rId5" Type="http://schemas.openxmlformats.org/officeDocument/2006/relationships/hyperlink" Target="https://wandb.ai/nizaanth-raja/Final%20Project/reports/EfficientNetB0-on-MLRSNet-Dataset--Vmlldzo5MzA3MDg0?accessToken=00fb5xpp9zkwjvhll2lwqjdq60tlok1fdgf03oao8j4f3r4a351mzodgir1uz77r" TargetMode="External"/><Relationship Id="rId4" Type="http://schemas.openxmlformats.org/officeDocument/2006/relationships/hyperlink" Target="https://api.wandb.ai/links/dishaxgh/wz334d6p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10.0024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8E0D-514D-4DEC-B792-1C4D895A8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565" y="4356100"/>
            <a:ext cx="7947685" cy="873125"/>
          </a:xfrm>
        </p:spPr>
        <p:txBody>
          <a:bodyPr/>
          <a:lstStyle/>
          <a:p>
            <a:r>
              <a:rPr lang="de-DE" dirty="0"/>
              <a:t>Exploring MLRSNet: A Game – Changer in Remote Sensing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B90F6-C244-40D2-B5EA-8E9AAC57C5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Disha Ghosh &amp; Nizaanth Raja</a:t>
            </a:r>
          </a:p>
          <a:p>
            <a:endParaRPr lang="de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76B53-031F-4B90-A6B8-9126A73648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MSc. Data Science &amp; MSc. </a:t>
            </a:r>
            <a:r>
              <a:rPr lang="de-DE"/>
              <a:t>Computational Science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3DBD7-D324-480A-B37A-B2EB98CEA56B}"/>
              </a:ext>
            </a:extLst>
          </p:cNvPr>
          <p:cNvSpPr txBox="1"/>
          <p:nvPr/>
        </p:nvSpPr>
        <p:spPr>
          <a:xfrm>
            <a:off x="7677345" y="840859"/>
            <a:ext cx="135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10-Sept-24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3107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EC76-4421-74B6-6D5B-BCC460D8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Welcome to our presentation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221A85-E2B6-A04F-8E28-F2D9888857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3727" y="1372058"/>
            <a:ext cx="8391796" cy="405237"/>
          </a:xfrm>
        </p:spPr>
        <p:txBody>
          <a:bodyPr/>
          <a:lstStyle/>
          <a:p>
            <a:r>
              <a:rPr lang="en-IN" dirty="0"/>
              <a:t>Objective: </a:t>
            </a:r>
            <a:r>
              <a:rPr lang="en-US" dirty="0"/>
              <a:t>To introduce and explore the MLRSNet dataset, while comparing the performance of the EfficientNet B0 base model (with pre-trained weights) to other models using pre-trained weights as mentioned in the original paper. Additionally, this work also involves training the EfficientNet B0 model from scratch for further comparison.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6F1593-804A-FE79-EB6E-9D92464435BE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B3310-A32C-5C3B-4D0B-5771FCF42C0D}"/>
              </a:ext>
            </a:extLst>
          </p:cNvPr>
          <p:cNvSpPr txBox="1"/>
          <p:nvPr/>
        </p:nvSpPr>
        <p:spPr>
          <a:xfrm>
            <a:off x="1781690" y="6169659"/>
            <a:ext cx="52205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96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2FD3-DE2B-46D8-A603-5B7C6294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AEAF0F-657E-CAFD-E37D-ADEDE9084DBD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56B98-CDFD-4DBF-4FA7-72C91BD97120}"/>
              </a:ext>
            </a:extLst>
          </p:cNvPr>
          <p:cNvSpPr txBox="1"/>
          <p:nvPr/>
        </p:nvSpPr>
        <p:spPr>
          <a:xfrm>
            <a:off x="1781690" y="6169659"/>
            <a:ext cx="45772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2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97FDA88-B872-8A7B-C00F-C42B176F83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800" y="3564016"/>
            <a:ext cx="8145645" cy="360040"/>
          </a:xfrm>
        </p:spPr>
        <p:txBody>
          <a:bodyPr/>
          <a:lstStyle/>
          <a:p>
            <a:pPr algn="just"/>
            <a:r>
              <a:rPr lang="en-US" sz="1700" dirty="0"/>
              <a:t>1. Brief Overview of the MLRSNet Dataset</a:t>
            </a:r>
          </a:p>
          <a:p>
            <a:pPr algn="just"/>
            <a:r>
              <a:rPr lang="en-US" sz="1700" dirty="0"/>
              <a:t>    - Introduction to the MLRSNet dataset and its significance in remote sensing image classification.</a:t>
            </a:r>
          </a:p>
          <a:p>
            <a:pPr algn="just"/>
            <a:r>
              <a:rPr lang="en-US" sz="1700" dirty="0"/>
              <a:t>2. Exploratory Data Analysis (EDA)</a:t>
            </a:r>
          </a:p>
          <a:p>
            <a:pPr algn="just"/>
            <a:r>
              <a:rPr lang="en-US" sz="1700" dirty="0"/>
              <a:t>   - Visualizations for images per category / label.</a:t>
            </a:r>
          </a:p>
          <a:p>
            <a:pPr algn="just"/>
            <a:r>
              <a:rPr lang="en-US" sz="1700" dirty="0"/>
              <a:t>3. EfficientNet Model</a:t>
            </a:r>
          </a:p>
          <a:p>
            <a:pPr algn="just"/>
            <a:r>
              <a:rPr lang="en-US" sz="1700" dirty="0"/>
              <a:t>   - Architecture and problem formulation.</a:t>
            </a:r>
          </a:p>
          <a:p>
            <a:pPr algn="just"/>
            <a:r>
              <a:rPr lang="en-US" sz="1700" dirty="0"/>
              <a:t>4. Experimental Setup </a:t>
            </a:r>
          </a:p>
          <a:p>
            <a:pPr algn="just"/>
            <a:r>
              <a:rPr lang="en-US" sz="1700" dirty="0"/>
              <a:t>   - Experimental Protocols (train / validation / test distribution, pre-trained &amp; training from                    scratch, metrics, etc.)</a:t>
            </a:r>
          </a:p>
          <a:p>
            <a:pPr algn="just"/>
            <a:r>
              <a:rPr lang="en-US" sz="1700" dirty="0"/>
              <a:t>   - Hyperparameters (Package, Batch size, learning rate, epochs, optimizer)</a:t>
            </a:r>
          </a:p>
          <a:p>
            <a:pPr algn="just"/>
            <a:r>
              <a:rPr lang="en-US" sz="1700" dirty="0"/>
              <a:t> 5. Results and Visualizations</a:t>
            </a:r>
          </a:p>
          <a:p>
            <a:pPr algn="just"/>
            <a:r>
              <a:rPr lang="en-US" sz="1700" dirty="0"/>
              <a:t>   - Model performance and comparison with state – of – art models mentioned in the paper.</a:t>
            </a:r>
          </a:p>
          <a:p>
            <a:pPr algn="just"/>
            <a:r>
              <a:rPr lang="en-US" sz="1700" dirty="0"/>
              <a:t> 6. Summary</a:t>
            </a:r>
          </a:p>
          <a:p>
            <a:pPr algn="just"/>
            <a:r>
              <a:rPr lang="en-US" sz="1700" dirty="0"/>
              <a:t>   - Key findings and insights.</a:t>
            </a:r>
          </a:p>
          <a:p>
            <a:pPr algn="just"/>
            <a:r>
              <a:rPr lang="en-US" sz="1700" dirty="0"/>
              <a:t>   - Limitations and potential enhancements.</a:t>
            </a:r>
          </a:p>
          <a:p>
            <a:pPr algn="just"/>
            <a:endParaRPr lang="en-US" sz="1700" dirty="0"/>
          </a:p>
          <a:p>
            <a:pPr algn="just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85982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32D6-4E0C-49EB-44DE-8F2C59B4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MLRSNet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37BFB-C399-1840-5445-753D20B2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04" y="1178750"/>
            <a:ext cx="8375650" cy="4772025"/>
          </a:xfrm>
        </p:spPr>
        <p:txBody>
          <a:bodyPr/>
          <a:lstStyle/>
          <a:p>
            <a:r>
              <a:rPr lang="en-US" sz="1700" dirty="0"/>
              <a:t>1. </a:t>
            </a:r>
            <a:r>
              <a:rPr lang="en-US" sz="1700" b="1" dirty="0"/>
              <a:t>Purpose: </a:t>
            </a:r>
            <a:r>
              <a:rPr lang="en-US" sz="1700" dirty="0"/>
              <a:t>Designed for multi-label classification of remote sensing images</a:t>
            </a:r>
          </a:p>
          <a:p>
            <a:r>
              <a:rPr lang="en-US" sz="1700" dirty="0"/>
              <a:t>2. </a:t>
            </a:r>
            <a:r>
              <a:rPr lang="en-US" sz="1700" b="1" dirty="0"/>
              <a:t>Total Images: </a:t>
            </a:r>
            <a:r>
              <a:rPr lang="en-US" sz="1700" dirty="0"/>
              <a:t>109,161 high spatial resolution optical satellite images</a:t>
            </a:r>
          </a:p>
          <a:p>
            <a:r>
              <a:rPr lang="en-US" sz="1700" dirty="0"/>
              <a:t>3. </a:t>
            </a:r>
            <a:r>
              <a:rPr lang="en-US" sz="1700" b="1" dirty="0"/>
              <a:t>Image Size: </a:t>
            </a:r>
            <a:r>
              <a:rPr lang="en-US" sz="1700" dirty="0"/>
              <a:t>256×256 pixels</a:t>
            </a:r>
          </a:p>
          <a:p>
            <a:r>
              <a:rPr lang="en-US" sz="1700" dirty="0"/>
              <a:t>4. </a:t>
            </a:r>
            <a:r>
              <a:rPr lang="en-US" sz="1700" b="1" dirty="0"/>
              <a:t>Categories</a:t>
            </a:r>
            <a:r>
              <a:rPr lang="en-US" sz="1700" dirty="0"/>
              <a:t>: 46 categories, including both natural and man-made objects</a:t>
            </a:r>
          </a:p>
          <a:p>
            <a:pPr marL="1028700" lvl="4" indent="-285750">
              <a:buFont typeface="Arial" panose="020B0604020202020204" pitchFamily="34" charset="0"/>
              <a:buChar char="•"/>
            </a:pPr>
            <a:r>
              <a:rPr lang="en-US" sz="1700" dirty="0"/>
              <a:t> Sample Size per Category: 1,500 to 3,000 images</a:t>
            </a:r>
          </a:p>
          <a:p>
            <a:r>
              <a:rPr lang="en-US" sz="1700" dirty="0"/>
              <a:t>5. </a:t>
            </a:r>
            <a:r>
              <a:rPr lang="en-US" sz="1700" b="1" dirty="0"/>
              <a:t>Labels: </a:t>
            </a:r>
            <a:r>
              <a:rPr lang="en-US" sz="1700" dirty="0"/>
              <a:t>60 predefined class labels</a:t>
            </a:r>
          </a:p>
          <a:p>
            <a:pPr marL="1028700" lvl="4" indent="-285750">
              <a:buFont typeface="Arial" panose="020B0604020202020204" pitchFamily="34" charset="0"/>
              <a:buChar char="•"/>
            </a:pPr>
            <a:r>
              <a:rPr lang="en-US" sz="1700" dirty="0"/>
              <a:t> Labels per Image: Ranges from 1 to 13</a:t>
            </a:r>
          </a:p>
          <a:p>
            <a:r>
              <a:rPr lang="en-US" sz="1700" dirty="0"/>
              <a:t>6. </a:t>
            </a:r>
            <a:r>
              <a:rPr lang="en-US" sz="1700" b="1" dirty="0"/>
              <a:t>Geographical Diversity: </a:t>
            </a:r>
            <a:r>
              <a:rPr lang="en-US" sz="1700" dirty="0"/>
              <a:t>Images represent various geographical locations and environmental conditions, </a:t>
            </a:r>
            <a:r>
              <a:rPr lang="en-US" sz="1800" dirty="0"/>
              <a:t>which helps in training models that generalize well across different regions.</a:t>
            </a:r>
          </a:p>
          <a:p>
            <a:r>
              <a:rPr lang="en-US" sz="1700" dirty="0"/>
              <a:t>7. </a:t>
            </a:r>
            <a:r>
              <a:rPr lang="en-US" sz="1700" b="1" dirty="0"/>
              <a:t>Use Case: </a:t>
            </a:r>
            <a:r>
              <a:rPr lang="en-US" sz="1700" dirty="0"/>
              <a:t>Enhances the development of robust machine learning models for remote sensing applications by providing a diverse and comprehensive dataset, which helps in </a:t>
            </a:r>
            <a:r>
              <a:rPr lang="en-US" sz="1800" dirty="0"/>
              <a:t>pushing the boundaries of machine learning models in terms of accuracy and generalization.</a:t>
            </a:r>
          </a:p>
          <a:p>
            <a:endParaRPr lang="en-IN" sz="1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F5BE2A-B6DD-E156-C177-EC9E88CD9273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7024A-A40F-4C1F-12D1-5B78BD83BDD0}"/>
              </a:ext>
            </a:extLst>
          </p:cNvPr>
          <p:cNvSpPr txBox="1"/>
          <p:nvPr/>
        </p:nvSpPr>
        <p:spPr>
          <a:xfrm>
            <a:off x="1781690" y="6169659"/>
            <a:ext cx="51755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3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48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259B-65CF-7E48-63D9-E2B750054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Between Categories and Labels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C47F7A-3045-AE19-8CDD-4B6BAA4D2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59700"/>
              </p:ext>
            </p:extLst>
          </p:nvPr>
        </p:nvGraphicFramePr>
        <p:xfrm>
          <a:off x="431800" y="1223755"/>
          <a:ext cx="8375650" cy="3645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7825">
                  <a:extLst>
                    <a:ext uri="{9D8B030D-6E8A-4147-A177-3AD203B41FA5}">
                      <a16:colId xmlns:a16="http://schemas.microsoft.com/office/drawing/2014/main" val="1006047834"/>
                    </a:ext>
                  </a:extLst>
                </a:gridCol>
                <a:gridCol w="4187825">
                  <a:extLst>
                    <a:ext uri="{9D8B030D-6E8A-4147-A177-3AD203B41FA5}">
                      <a16:colId xmlns:a16="http://schemas.microsoft.com/office/drawing/2014/main" val="3771399706"/>
                    </a:ext>
                  </a:extLst>
                </a:gridCol>
              </a:tblGrid>
              <a:tr h="491893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009531"/>
                  </a:ext>
                </a:extLst>
              </a:tr>
              <a:tr h="1738474"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‘Labels’ are 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referred to the specific labels assigned to each image in the dataset, indicating the presence of certain features or characteristics within that image. There are </a:t>
                      </a:r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 pre-defined labels.</a:t>
                      </a:r>
                      <a:endParaRPr lang="en-IN" sz="1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“Categories" refer to the different types of scenes or land-use and land-cover types that are represented in the dataset. There are </a:t>
                      </a:r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 distinct categories 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total.</a:t>
                      </a:r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66962"/>
                  </a:ext>
                </a:extLst>
              </a:tr>
              <a:tr h="1415038"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These labels include </a:t>
                      </a: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cloud, desert, farmland, intersection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buildings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These categories include various broad scene types like </a:t>
                      </a:r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Residential, Industrial, Farmland, Forest, Water, Airport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Highway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98194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17C73A-B734-A2B2-CD97-14AE3C2462D3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F0F8B-1274-6C44-CEB0-A69BFBF5273E}"/>
              </a:ext>
            </a:extLst>
          </p:cNvPr>
          <p:cNvSpPr txBox="1"/>
          <p:nvPr/>
        </p:nvSpPr>
        <p:spPr>
          <a:xfrm>
            <a:off x="1784962" y="6129300"/>
            <a:ext cx="45772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4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363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FCC3-19F3-D4A8-610F-99039918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– Understanding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6F98F-2025-3E99-3934-CBB2CD4FD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178750"/>
            <a:ext cx="8375650" cy="4772025"/>
          </a:xfrm>
        </p:spPr>
        <p:txBody>
          <a:bodyPr/>
          <a:lstStyle/>
          <a:p>
            <a:r>
              <a:rPr lang="en-US" dirty="0"/>
              <a:t>Exploratory Data Analysis (EDA) provided valuable insights into the characteristics of the </a:t>
            </a:r>
            <a:r>
              <a:rPr lang="en-US" dirty="0" err="1"/>
              <a:t>MLRSNet</a:t>
            </a:r>
            <a:r>
              <a:rPr lang="en-US" dirty="0"/>
              <a:t> dataset.</a:t>
            </a:r>
          </a:p>
          <a:p>
            <a:r>
              <a:rPr lang="en-US" dirty="0"/>
              <a:t>The initial analysis involved summarizing the dataset's statistical properties, including the distribution of images across various categories and the frequency of occurrence for each label.</a:t>
            </a:r>
          </a:p>
          <a:p>
            <a:endParaRPr lang="en-IN" dirty="0"/>
          </a:p>
          <a:p>
            <a:r>
              <a:rPr lang="en-IN" dirty="0"/>
              <a:t>Source: </a:t>
            </a:r>
            <a:r>
              <a:rPr lang="en-IN" dirty="0">
                <a:hlinkClick r:id="rId2"/>
              </a:rPr>
              <a:t>Exploratory Data </a:t>
            </a:r>
            <a:r>
              <a:rPr lang="en-IN" dirty="0" err="1">
                <a:hlinkClick r:id="rId2"/>
              </a:rPr>
              <a:t>Analysis_MLRSNet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2C78B3-C1A2-F735-B6D4-CEA8436BE7BB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FD1AB-5CF3-55A7-2778-F4014E9DAA84}"/>
              </a:ext>
            </a:extLst>
          </p:cNvPr>
          <p:cNvSpPr txBox="1"/>
          <p:nvPr/>
        </p:nvSpPr>
        <p:spPr>
          <a:xfrm>
            <a:off x="1781690" y="6169658"/>
            <a:ext cx="5445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5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330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D58E-3534-8265-169F-5CC2F3D8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Visualisations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0D5B662-20DA-BC49-4212-85CE4284CF35}"/>
              </a:ext>
            </a:extLst>
          </p:cNvPr>
          <p:cNvSpPr>
            <a:spLocks noGrp="1"/>
          </p:cNvSpPr>
          <p:nvPr>
            <p:ph type="chart" idx="1"/>
          </p:nvPr>
        </p:nvSpPr>
        <p:spPr/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63A09-385C-AB99-25B3-A67869611E63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B54CD-6D9E-CEAF-B157-95CB098EA416}"/>
              </a:ext>
            </a:extLst>
          </p:cNvPr>
          <p:cNvSpPr/>
          <p:nvPr/>
        </p:nvSpPr>
        <p:spPr>
          <a:xfrm>
            <a:off x="1934090" y="62817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27271-6581-C239-ACFF-C41B1BAA64F8}"/>
              </a:ext>
            </a:extLst>
          </p:cNvPr>
          <p:cNvSpPr txBox="1"/>
          <p:nvPr/>
        </p:nvSpPr>
        <p:spPr>
          <a:xfrm>
            <a:off x="1781690" y="6132602"/>
            <a:ext cx="51305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6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241F7-FECD-46C8-6C0A-8B487B959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90" y="1064640"/>
            <a:ext cx="7920619" cy="451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444949-D3DC-22FF-44A1-8B0816075028}"/>
              </a:ext>
            </a:extLst>
          </p:cNvPr>
          <p:cNvSpPr txBox="1"/>
          <p:nvPr/>
        </p:nvSpPr>
        <p:spPr>
          <a:xfrm>
            <a:off x="3014210" y="5799987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Fig.1. Labels and Categories for each image  </a:t>
            </a:r>
          </a:p>
        </p:txBody>
      </p:sp>
    </p:spTree>
    <p:extLst>
      <p:ext uri="{BB962C8B-B14F-4D97-AF65-F5344CB8AC3E}">
        <p14:creationId xmlns:p14="http://schemas.microsoft.com/office/powerpoint/2010/main" val="3345591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0684-9709-1629-124B-63C738D2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DC438-7E30-3A56-89E3-9A1FC203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42988"/>
            <a:ext cx="8375650" cy="402858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0045C-165F-41F6-7917-8F744ADA6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49" y="1318012"/>
            <a:ext cx="8470900" cy="3757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F1B5ED-9A80-C6B7-BA34-C65E303E9C1D}"/>
              </a:ext>
            </a:extLst>
          </p:cNvPr>
          <p:cNvSpPr txBox="1"/>
          <p:nvPr/>
        </p:nvSpPr>
        <p:spPr>
          <a:xfrm>
            <a:off x="1714181" y="5232211"/>
            <a:ext cx="5715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Fig.2. Distribution of Number of samples per category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7F263-901B-050B-8568-A2016BCB4013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859C9-4925-BE72-9144-3A471D956B5C}"/>
              </a:ext>
            </a:extLst>
          </p:cNvPr>
          <p:cNvSpPr txBox="1"/>
          <p:nvPr/>
        </p:nvSpPr>
        <p:spPr>
          <a:xfrm>
            <a:off x="1781690" y="6169659"/>
            <a:ext cx="52205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7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A88DEC-4E9A-EC2F-CF70-E867683855CF}"/>
              </a:ext>
            </a:extLst>
          </p:cNvPr>
          <p:cNvSpPr/>
          <p:nvPr/>
        </p:nvSpPr>
        <p:spPr>
          <a:xfrm>
            <a:off x="3857161" y="1241068"/>
            <a:ext cx="2025225" cy="22506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C6CA0-7FB5-CBB3-7B22-1FC01066B9A9}"/>
              </a:ext>
            </a:extLst>
          </p:cNvPr>
          <p:cNvSpPr txBox="1"/>
          <p:nvPr/>
        </p:nvSpPr>
        <p:spPr>
          <a:xfrm>
            <a:off x="3086835" y="1290414"/>
            <a:ext cx="31992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dirty="0"/>
              <a:t>Samples per category</a:t>
            </a:r>
          </a:p>
        </p:txBody>
      </p:sp>
    </p:spTree>
    <p:extLst>
      <p:ext uri="{BB962C8B-B14F-4D97-AF65-F5344CB8AC3E}">
        <p14:creationId xmlns:p14="http://schemas.microsoft.com/office/powerpoint/2010/main" val="53665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BDB2-C24F-128F-B0A3-0AA1ADAD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0B03BB-CF49-87D5-FF4C-1CAAAE132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137" y="1133745"/>
            <a:ext cx="6525725" cy="45455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5C5626-6750-9197-618E-876E8A2F2BFC}"/>
              </a:ext>
            </a:extLst>
          </p:cNvPr>
          <p:cNvSpPr txBox="1"/>
          <p:nvPr/>
        </p:nvSpPr>
        <p:spPr>
          <a:xfrm>
            <a:off x="2414380" y="5679250"/>
            <a:ext cx="4410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Fig.3. Distribution of Number of samples per Label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6F2B5-18E6-97BC-A078-DC098F8F0C1E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F152E-A9A3-1D72-B24E-BF400F25FF97}"/>
              </a:ext>
            </a:extLst>
          </p:cNvPr>
          <p:cNvSpPr txBox="1"/>
          <p:nvPr/>
        </p:nvSpPr>
        <p:spPr>
          <a:xfrm>
            <a:off x="1781690" y="6169658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8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48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Concepts in </a:t>
            </a:r>
            <a:r>
              <a:rPr lang="en-IN" dirty="0" err="1"/>
              <a:t>EfficientNets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5CBE4-3E66-106F-4284-2538360DD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223755"/>
            <a:ext cx="8375650" cy="4591258"/>
          </a:xfrm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/>
              <a:t>Depth (D): </a:t>
            </a:r>
            <a:r>
              <a:rPr lang="en-US" dirty="0"/>
              <a:t>The depth of a neural network refers to the number of layers, or more specifically, the number of convolutional layers or blocks in the network.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/>
              <a:t>Width (W): </a:t>
            </a:r>
            <a:r>
              <a:rPr lang="en-US" dirty="0"/>
              <a:t>The width of a neural network refers to the number of channels (also known as filters or feature maps) in a convolutional layer. In other words, it represents how many neurons (or units) are there in each layer.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Resolution (R):</a:t>
            </a:r>
            <a:r>
              <a:rPr lang="en-US" dirty="0"/>
              <a:t> The resolution of a network refers to the input image size. Higher resolution means the network processes larger images, which contain more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b="1" dirty="0"/>
              <a:t>The challenges associated with scaling either of these are as follows: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depth can lead to vanishing gradients and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width can cause model redundancy and excessive computational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resolution requires significantly more memory and processing power.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9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572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EfficientNet’s</a:t>
            </a:r>
            <a:r>
              <a:rPr lang="en-IN" dirty="0"/>
              <a:t> Novel Approach -  Compound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5CBE4-3E66-106F-4284-2538360DD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42989"/>
            <a:ext cx="8375650" cy="357421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10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BCE19A4-647B-2459-1F9B-A7724667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042987"/>
            <a:ext cx="8375650" cy="3533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29A5FC-B909-1167-E9A8-B50B2F0EF99E}"/>
              </a:ext>
            </a:extLst>
          </p:cNvPr>
          <p:cNvSpPr txBox="1"/>
          <p:nvPr/>
        </p:nvSpPr>
        <p:spPr>
          <a:xfrm>
            <a:off x="431800" y="4782828"/>
            <a:ext cx="83756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Fig.4.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Scaling Visualisation. 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is a baseline network example; (b)-(d) are conventional scaling that only increases one dimension of network width, depth, or resolution. (e) is our proposed compound scaling method that uniformly scales all three dimensions with a fixed ratio.</a:t>
            </a:r>
          </a:p>
          <a:p>
            <a:pPr algn="l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Original Paper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282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 for the Proposed Compound Scaling Method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11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B4A5E1D0-0D65-2FDD-9BD9-B70CD64B99D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31800" y="1186080"/>
                <a:ext cx="8375650" cy="2308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Goal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Expand network depth, width, and resolution without changing </a:t>
                </a:r>
                <a:r>
                  <a:rPr lang="en-IN" i="1" kern="100" dirty="0">
                    <a:effectLst/>
                    <a:ea typeface="Calibri" panose="020F0502020204030204" pitchFamily="34" charset="0"/>
                  </a:rPr>
                  <a:t>F</a:t>
                </a:r>
                <a:r>
                  <a:rPr lang="en-IN" i="1" kern="100" baseline="-25000" dirty="0">
                    <a:effectLst/>
                    <a:ea typeface="Calibri" panose="020F0502020204030204" pitchFamily="34" charset="0"/>
                  </a:rPr>
                  <a:t>i</a:t>
                </a:r>
                <a:r>
                  <a:rPr lang="en-IN" kern="100" dirty="0">
                    <a:effectLst/>
                    <a:ea typeface="Calibri" panose="020F0502020204030204" pitchFamily="34" charset="0"/>
                  </a:rPr>
                  <a:t> predefined in the baseline network. 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Uniform Scaling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All layers are scaled by a constant ratio to simplify adjustments.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Scaling Factors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</a:t>
                </a:r>
              </a:p>
              <a:p>
                <a:pPr eaLnBrk="0" hangingPunct="0">
                  <a:spcBef>
                    <a:spcPct val="0"/>
                  </a:spcBef>
                  <a:buFontTx/>
                  <a:buChar char="•"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Depth (</a:t>
                </a:r>
                <a:r>
                  <a:rPr lang="en-IN" b="1" i="1" kern="100" dirty="0">
                    <a:ea typeface="Calibri" panose="020F0502020204030204" pitchFamily="34" charset="0"/>
                  </a:rPr>
                  <a:t>Li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 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𝛼𝜑</m:t>
                    </m:r>
                  </m:oMath>
                </a14:m>
                <a:endParaRPr lang="en-IN" kern="100" dirty="0">
                  <a:effectLst/>
                  <a:ea typeface="Calibri" panose="020F0502020204030204" pitchFamily="34" charset="0"/>
                </a:endParaRPr>
              </a:p>
              <a:p>
                <a:pPr eaLnBrk="0" hangingPunct="0">
                  <a:spcBef>
                    <a:spcPct val="0"/>
                  </a:spcBef>
                  <a:buFontTx/>
                  <a:buChar char="•"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Width (</a:t>
                </a:r>
                <a:r>
                  <a:rPr lang="en-IN" b="1" i="1" kern="100" dirty="0">
                    <a:ea typeface="Calibri" panose="020F0502020204030204" pitchFamily="34" charset="0"/>
                  </a:rPr>
                  <a:t>Ci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𝑤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 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𝛽𝜑</m:t>
                    </m:r>
                  </m:oMath>
                </a14:m>
                <a:endParaRPr lang="en-IN" kern="100" dirty="0">
                  <a:effectLst/>
                  <a:ea typeface="Calibri" panose="020F0502020204030204" pitchFamily="34" charset="0"/>
                </a:endParaRPr>
              </a:p>
              <a:p>
                <a:pPr eaLnBrk="0" hangingPunct="0">
                  <a:spcBef>
                    <a:spcPct val="0"/>
                  </a:spcBef>
                  <a:buFontTx/>
                  <a:buChar char="•"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Resolution (</a:t>
                </a:r>
                <a:r>
                  <a:rPr lang="en-IN" b="1" i="1" kern="100" dirty="0">
                    <a:ea typeface="Calibri" panose="020F0502020204030204" pitchFamily="34" charset="0"/>
                  </a:rPr>
                  <a:t>Hi, Wi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 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𝛾𝜑</m:t>
                    </m:r>
                  </m:oMath>
                </a14:m>
                <a:endParaRPr lang="en-IN" kern="100" dirty="0">
                  <a:effectLst/>
                  <a:ea typeface="Calibri" panose="020F0502020204030204" pitchFamily="34" charset="0"/>
                </a:endParaRPr>
              </a:p>
              <a:p>
                <a:pPr eaLnBrk="0" hangingPunct="0">
                  <a:spcBef>
                    <a:spcPct val="0"/>
                  </a:spcBef>
                  <a:buFontTx/>
                  <a:buChar char="•"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Design Rule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sSup>
                      <m:sSupPr>
                        <m:ctrlPr>
                          <a:rPr lang="en-IN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𝛽</m:t>
                        </m:r>
                      </m:e>
                      <m:sup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sSup>
                      <m:sSupPr>
                        <m:ctrlPr>
                          <a:rPr lang="en-IN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≈2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ensuring balanced scaling.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r>
                      <a:rPr lang="en-IN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𝜑</m:t>
                    </m:r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User-defined coefficient for uniform scaling across depth, width, and resolution.</a:t>
                </a:r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B4A5E1D0-0D65-2FDD-9BD9-B70CD64B9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31800" y="1186080"/>
                <a:ext cx="8375650" cy="2308324"/>
              </a:xfrm>
              <a:prstGeom prst="rect">
                <a:avLst/>
              </a:prstGeom>
              <a:blipFill>
                <a:blip r:embed="rId2"/>
                <a:stretch>
                  <a:fillRect l="-437" t="-529" r="-509" b="-29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176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12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4A5E1D0-0D65-2FDD-9BD9-B70CD64B99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175" y="1043735"/>
            <a:ext cx="8375650" cy="626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of the proposed scaling method was achieved using existing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also develop a new mobile-size baseline called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better demonstrate its effectiveness.</a:t>
            </a:r>
          </a:p>
          <a:p>
            <a:pPr eaLnBrk="0" hangingPunct="0">
              <a:spcBef>
                <a:spcPct val="0"/>
              </a:spcBef>
              <a:buFontTx/>
              <a:buChar char="•"/>
            </a:pPr>
            <a:endParaRPr lang="en-US" dirty="0"/>
          </a:p>
          <a:p>
            <a:pPr eaLnBrk="0" hangingPunct="0">
              <a:spcBef>
                <a:spcPct val="0"/>
              </a:spcBef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Inspired by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Tan et al. (2019)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baseline network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B0) was developed using a multi-objective Neural </a:t>
            </a:r>
            <a:r>
              <a:rPr lang="en-US" dirty="0"/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rchitecture </a:t>
            </a:r>
            <a:r>
              <a:rPr lang="en-US" dirty="0"/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earch (NAS) that optimizes both accuracy and FLOPS.</a:t>
            </a:r>
          </a:p>
          <a:p>
            <a:pPr eaLnBrk="0" hangingPunct="0">
              <a:spcBef>
                <a:spcPct val="0"/>
              </a:spcBef>
              <a:buFontTx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same search space as Tan et al. (2019) and define the optimization goal as: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ACC(m) [FLOPS(m)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T] </a:t>
            </a:r>
            <a:r>
              <a:rPr lang="en-US" sz="1800" i="1" kern="1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</a:p>
          <a:p>
            <a:pPr algn="ctr"/>
            <a:endParaRPr lang="en-US" sz="1800" i="1" kern="100" baseline="30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ACC(m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and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FLOPS(m)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denote the accuracy and FLOPS of model </a:t>
            </a:r>
            <a:r>
              <a:rPr lang="en-US" sz="16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m,T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target FLOPS, and 𝑤 = -0.07 is a hyperparameter controlling the trade-off between accuracy and FLOPS.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FontTx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FontTx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building block of this architecture is the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mobile inverted bottleneck architecture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MBConv (originally introduced in the MobileNetV2, a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reduces the number of parameters and computational costs while still delivering strong performance)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to which there is an addition of </a:t>
            </a:r>
            <a:r>
              <a:rPr lang="de-DE" dirty="0">
                <a:solidFill>
                  <a:srgbClr val="BE1E3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squee</a:t>
            </a:r>
            <a:r>
              <a:rPr lang="en-IN" dirty="0">
                <a:solidFill>
                  <a:srgbClr val="BE1E3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 – and – excitation optimisation</a:t>
            </a:r>
            <a:r>
              <a:rPr lang="en-IN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IN" dirty="0"/>
              <a:t>(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 the network's ability to focus on important features by adaptively recalibrating channel-wise feature responses).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FontTx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FontTx/>
              <a:buChar char="•"/>
            </a:pPr>
            <a:endParaRPr lang="en-IN" dirty="0"/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FontTx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738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13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65EF72-21B0-3699-549C-870E55BE4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4">
            <a:hlinkClick r:id="rId2"/>
            <a:extLst>
              <a:ext uri="{FF2B5EF4-FFF2-40B4-BE49-F238E27FC236}">
                <a16:creationId xmlns:a16="http://schemas.microsoft.com/office/drawing/2014/main" id="{B664FCDF-DB1E-C32C-9BD7-8D10A9FFE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 rot="5400000">
            <a:off x="888375" y="2251722"/>
            <a:ext cx="4735794" cy="2390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CE015D-E6C4-C083-57CF-664DA71767F7}"/>
              </a:ext>
            </a:extLst>
          </p:cNvPr>
          <p:cNvSpPr txBox="1"/>
          <p:nvPr/>
        </p:nvSpPr>
        <p:spPr>
          <a:xfrm>
            <a:off x="5022050" y="1898830"/>
            <a:ext cx="369014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Fig.5.EfficientNet Architecture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Have a look at the paper here</a:t>
            </a:r>
            <a:r>
              <a:rPr lang="en-IN" sz="14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endParaRPr lang="en-IN" sz="14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kxk</a:t>
            </a:r>
            <a:r>
              <a:rPr lang="en-IN" sz="1400" b="1" dirty="0"/>
              <a:t>: </a:t>
            </a:r>
            <a:r>
              <a:rPr lang="en-IN" sz="1400" dirty="0"/>
              <a:t>kernel size.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MBConvk</a:t>
            </a:r>
            <a:r>
              <a:rPr lang="en-IN" sz="1400" dirty="0"/>
              <a:t>: Expansion Ratio for channels.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Blocks: Groupings of layers that progressively deepen the network and extract more abstract and complex features from the image.</a:t>
            </a:r>
            <a:endParaRPr lang="en-IN" sz="1400" b="1" dirty="0"/>
          </a:p>
          <a:p>
            <a:pPr algn="ctr"/>
            <a:endParaRPr lang="en-IN" sz="14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4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4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978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14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A5D19E-9137-3B3E-4C0D-F6F45D89C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25952"/>
              </p:ext>
            </p:extLst>
          </p:nvPr>
        </p:nvGraphicFramePr>
        <p:xfrm>
          <a:off x="701570" y="1533472"/>
          <a:ext cx="7740860" cy="3891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172">
                  <a:extLst>
                    <a:ext uri="{9D8B030D-6E8A-4147-A177-3AD203B41FA5}">
                      <a16:colId xmlns:a16="http://schemas.microsoft.com/office/drawing/2014/main" val="2538842717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874827721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914592906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534013442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4150927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 - trained</a:t>
                      </a:r>
                    </a:p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70498"/>
                  </a:ext>
                </a:extLst>
              </a:tr>
              <a:tr h="820446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(ImageNet)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55282"/>
                  </a:ext>
                </a:extLst>
              </a:tr>
              <a:tr h="820446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(ImageNet)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748225"/>
                  </a:ext>
                </a:extLst>
              </a:tr>
              <a:tr h="820446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(ImageNet)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8936"/>
                  </a:ext>
                </a:extLst>
              </a:tr>
              <a:tr h="820446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Scratch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0136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C8213D-20CA-D504-83E6-8778F3BD1BA4}"/>
              </a:ext>
            </a:extLst>
          </p:cNvPr>
          <p:cNvSpPr txBox="1"/>
          <p:nvPr/>
        </p:nvSpPr>
        <p:spPr>
          <a:xfrm>
            <a:off x="2076842" y="5489480"/>
            <a:ext cx="5085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1. Model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19183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15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8213D-20CA-D504-83E6-8778F3BD1BA4}"/>
              </a:ext>
            </a:extLst>
          </p:cNvPr>
          <p:cNvSpPr txBox="1"/>
          <p:nvPr/>
        </p:nvSpPr>
        <p:spPr>
          <a:xfrm>
            <a:off x="431799" y="1178750"/>
            <a:ext cx="82356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 (Samples):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balance between precision and recall for multi-label classification.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Average Precision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precision across all class labels.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</a:p>
        </p:txBody>
      </p:sp>
    </p:spTree>
    <p:extLst>
      <p:ext uri="{BB962C8B-B14F-4D97-AF65-F5344CB8AC3E}">
        <p14:creationId xmlns:p14="http://schemas.microsoft.com/office/powerpoint/2010/main" val="1378165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16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8213D-20CA-D504-83E6-8778F3BD1BA4}"/>
              </a:ext>
            </a:extLst>
          </p:cNvPr>
          <p:cNvSpPr txBox="1"/>
          <p:nvPr/>
        </p:nvSpPr>
        <p:spPr>
          <a:xfrm>
            <a:off x="1424270" y="5194643"/>
            <a:ext cx="639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2. Mean Average Precision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Comparison of our model with the other eight fine tuned model mentioned in the paper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18670B-820F-E425-51A3-BF5A66659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70575"/>
              </p:ext>
            </p:extLst>
          </p:nvPr>
        </p:nvGraphicFramePr>
        <p:xfrm>
          <a:off x="379290" y="1401747"/>
          <a:ext cx="838542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275">
                  <a:extLst>
                    <a:ext uri="{9D8B030D-6E8A-4147-A177-3AD203B41FA5}">
                      <a16:colId xmlns:a16="http://schemas.microsoft.com/office/drawing/2014/main" val="3135604701"/>
                    </a:ext>
                  </a:extLst>
                </a:gridCol>
                <a:gridCol w="1935215">
                  <a:extLst>
                    <a:ext uri="{9D8B030D-6E8A-4147-A177-3AD203B41FA5}">
                      <a16:colId xmlns:a16="http://schemas.microsoft.com/office/drawing/2014/main" val="1113050293"/>
                    </a:ext>
                  </a:extLst>
                </a:gridCol>
                <a:gridCol w="2025225">
                  <a:extLst>
                    <a:ext uri="{9D8B030D-6E8A-4147-A177-3AD203B41FA5}">
                      <a16:colId xmlns:a16="http://schemas.microsoft.com/office/drawing/2014/main" val="968396685"/>
                    </a:ext>
                  </a:extLst>
                </a:gridCol>
                <a:gridCol w="1949705">
                  <a:extLst>
                    <a:ext uri="{9D8B030D-6E8A-4147-A177-3AD203B41FA5}">
                      <a16:colId xmlns:a16="http://schemas.microsoft.com/office/drawing/2014/main" val="1736773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330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MLRSNet-InceptionV3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061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MLRSNet-VGGNet16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45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MLRSNet-VGGNet19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247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MLRSNet-ResNet50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2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MLRSNet-ResNet101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08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MLRSNet-DenseNet121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MLRSNet-DenseNet169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43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MLRSNet-DenseNet201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23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MLRSNet-EfficientNetB0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21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661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17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8213D-20CA-D504-83E6-8778F3BD1BA4}"/>
              </a:ext>
            </a:extLst>
          </p:cNvPr>
          <p:cNvSpPr txBox="1"/>
          <p:nvPr/>
        </p:nvSpPr>
        <p:spPr>
          <a:xfrm>
            <a:off x="1424270" y="5194643"/>
            <a:ext cx="639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2. F1 Score (Samples)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Comparison of our model with the other eight fine tuned model mentioned in the paper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18670B-820F-E425-51A3-BF5A66659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55075"/>
              </p:ext>
            </p:extLst>
          </p:nvPr>
        </p:nvGraphicFramePr>
        <p:xfrm>
          <a:off x="379290" y="1401747"/>
          <a:ext cx="838542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275">
                  <a:extLst>
                    <a:ext uri="{9D8B030D-6E8A-4147-A177-3AD203B41FA5}">
                      <a16:colId xmlns:a16="http://schemas.microsoft.com/office/drawing/2014/main" val="3135604701"/>
                    </a:ext>
                  </a:extLst>
                </a:gridCol>
                <a:gridCol w="1935215">
                  <a:extLst>
                    <a:ext uri="{9D8B030D-6E8A-4147-A177-3AD203B41FA5}">
                      <a16:colId xmlns:a16="http://schemas.microsoft.com/office/drawing/2014/main" val="1113050293"/>
                    </a:ext>
                  </a:extLst>
                </a:gridCol>
                <a:gridCol w="2025225">
                  <a:extLst>
                    <a:ext uri="{9D8B030D-6E8A-4147-A177-3AD203B41FA5}">
                      <a16:colId xmlns:a16="http://schemas.microsoft.com/office/drawing/2014/main" val="968396685"/>
                    </a:ext>
                  </a:extLst>
                </a:gridCol>
                <a:gridCol w="1949705">
                  <a:extLst>
                    <a:ext uri="{9D8B030D-6E8A-4147-A177-3AD203B41FA5}">
                      <a16:colId xmlns:a16="http://schemas.microsoft.com/office/drawing/2014/main" val="1736773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330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MLRSNet-InceptionV3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0.7746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0.8016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0.8146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061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MLRSNet-VGGNet16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0.5743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0.6534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0.6855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45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MLRSNet-VGGNet19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0.5677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0.6120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0.6329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247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MLRSNet-ResNet50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0.7530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0.8176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0.8353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2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MLRSNet-ResNet101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0.7618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0.7703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0.8226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08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MLRSNet-DenseNet121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0.7154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0.7389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0.7571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0MLRSNet-DenseNet169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0.8138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0.8408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0.8521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43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MLRSNet-DenseNet201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0.8381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0.8414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0.8538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23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MLRSNet-EfficientNetB0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0.8355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21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195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Visualizations for Base model for the split ratio 20-10-70.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18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16A1B9-90C0-A671-D888-37BC47C38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740"/>
            <a:ext cx="3041830" cy="2435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DF9777-D4D6-95C5-D59A-8192B0C44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761" y="1112544"/>
            <a:ext cx="2889135" cy="23979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589BB7-8290-4B95-4DD6-8FB69414D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474" y="1127299"/>
            <a:ext cx="3051757" cy="23509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34D5CE-DB40-83DF-4DAA-9E0C09858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0194" y="3564894"/>
            <a:ext cx="2736572" cy="21892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4B0C60-61EF-6160-E476-E850003AC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688" y="3701232"/>
            <a:ext cx="2889134" cy="222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00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Visualizations for Base model for the split ratio 30-10-60.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19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6F88B-72BE-A48C-2DA6-DB87E07AB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30" y="1166452"/>
            <a:ext cx="2633082" cy="2383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2E668E-51C7-DABD-EEFA-BB8686C3A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612" y="1133164"/>
            <a:ext cx="2633083" cy="23596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7F79A8-DE50-76B2-4344-E11553B15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061" y="1087040"/>
            <a:ext cx="2840359" cy="23983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05AB60-4560-1A92-FC18-EDDFB64B9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601" y="3516236"/>
            <a:ext cx="2852736" cy="23596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6DBF5B-A762-FE80-B112-1607C6E58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1161" y="3551292"/>
            <a:ext cx="2586124" cy="241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11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Visualizations for Base model for the split ratio 40-10-50.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20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0D6D94-B4CA-636F-4534-11B4F5E7C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25" y="1133746"/>
            <a:ext cx="2385265" cy="25075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13B302-1AF4-6FAD-18C6-4D530B49E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805" y="1133745"/>
            <a:ext cx="2837051" cy="25075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411ADE-C118-8439-7D33-E26EE53C8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330" y="1176085"/>
            <a:ext cx="2495910" cy="2465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8D5A83-F7D0-DBE1-FCB0-546912FB4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774" y="3622083"/>
            <a:ext cx="2491868" cy="23672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40BCFE-C76A-23B8-9027-7790CD181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2683" y="3629325"/>
            <a:ext cx="2333294" cy="236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78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21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8213D-20CA-D504-83E6-8778F3BD1BA4}"/>
              </a:ext>
            </a:extLst>
          </p:cNvPr>
          <p:cNvSpPr txBox="1"/>
          <p:nvPr/>
        </p:nvSpPr>
        <p:spPr>
          <a:xfrm>
            <a:off x="431799" y="1178750"/>
            <a:ext cx="850568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Performance Scheduling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BATCH_SIZE = 32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initial_learning_rate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0.005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Epochs = 200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Step Decay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nitial Learning Rate = 0.005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Decay Steps = 5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Decay Rate = 0.9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Epochs = 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54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Comparison between the Step decay model and Performance Scheduling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22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52DA0-C302-728D-6A74-E78633811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704"/>
            <a:ext cx="9144000" cy="48525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D49308-776F-EC80-84DA-789E3FEE6E91}"/>
              </a:ext>
            </a:extLst>
          </p:cNvPr>
          <p:cNvSpPr txBox="1"/>
          <p:nvPr/>
        </p:nvSpPr>
        <p:spPr>
          <a:xfrm>
            <a:off x="2456765" y="5811862"/>
            <a:ext cx="4230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Fig.6. Comparison between the two scratch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FAC490-151A-E535-4CC1-88471F77F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6379"/>
            <a:ext cx="9144000" cy="488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79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Results for Performance Scheduling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23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8213D-20CA-D504-83E6-8778F3BD1BA4}"/>
              </a:ext>
            </a:extLst>
          </p:cNvPr>
          <p:cNvSpPr txBox="1"/>
          <p:nvPr/>
        </p:nvSpPr>
        <p:spPr>
          <a:xfrm>
            <a:off x="206644" y="957312"/>
            <a:ext cx="8505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 (Samples): 0.8568 	Binary Accuracy: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97.58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AUC Score (</a:t>
            </a:r>
            <a:r>
              <a:rPr lang="fr-F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99.22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Mean Average Precision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94.61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Hamming Loss: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2F2EAE-4C7A-18DA-4033-0435C21AA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80" y="1547435"/>
            <a:ext cx="2450646" cy="2421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8093A-CDB0-08E7-5423-97CE45B14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562" y="1542087"/>
            <a:ext cx="2584741" cy="24143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861945-2653-D60C-2A45-E21E0981B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129" y="1542087"/>
            <a:ext cx="2584741" cy="24144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C56ACD-00D9-AE6D-86E9-DAE81B4167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1801" y="3867663"/>
            <a:ext cx="2270159" cy="21846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B782445-3549-D479-9D26-BB290C7018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595" y="3955834"/>
            <a:ext cx="2156968" cy="209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7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24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8213D-20CA-D504-83E6-8778F3BD1BA4}"/>
              </a:ext>
            </a:extLst>
          </p:cNvPr>
          <p:cNvSpPr txBox="1"/>
          <p:nvPr/>
        </p:nvSpPr>
        <p:spPr>
          <a:xfrm>
            <a:off x="206644" y="957312"/>
            <a:ext cx="8505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 (Samples):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0.8395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Binary Accuracy: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97.15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AUC Score (</a:t>
            </a:r>
            <a:r>
              <a:rPr lang="fr-F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98.93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Mean Average Precision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93.53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Hamming Loss: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2.84	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27119BE-539A-CAB3-5366-A7C18FAC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for Step Decay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99E65F-3095-3A26-78FF-2C89B6E23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680249"/>
            <a:ext cx="2432374" cy="22928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90CBC9-672B-B6FF-774A-3A79BA536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845" y="1680249"/>
            <a:ext cx="2432374" cy="23859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9B45FE-AB9F-0C60-704C-88D3E6B39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890" y="1680249"/>
            <a:ext cx="2295515" cy="24058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1D3149-84A2-10D9-E385-43674137C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068" y="3976239"/>
            <a:ext cx="2295515" cy="20598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CB9F8E-A712-418A-5247-4E408848C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330" y="3982045"/>
            <a:ext cx="2066494" cy="205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66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6FA9-C0A0-E2DC-B644-4ABB1110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References and Links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C6EA5-253E-52A5-BD03-4FD9333038E0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67C52-9F15-CFF9-3ECD-72DD2345E065}"/>
              </a:ext>
            </a:extLst>
          </p:cNvPr>
          <p:cNvSpPr txBox="1"/>
          <p:nvPr/>
        </p:nvSpPr>
        <p:spPr>
          <a:xfrm>
            <a:off x="1781690" y="6169659"/>
            <a:ext cx="5355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25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8213D-20CA-D504-83E6-8778F3BD1BA4}"/>
              </a:ext>
            </a:extLst>
          </p:cNvPr>
          <p:cNvSpPr txBox="1"/>
          <p:nvPr/>
        </p:nvSpPr>
        <p:spPr>
          <a:xfrm>
            <a:off x="431799" y="1178750"/>
            <a:ext cx="82356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Wandb Report to EfficientNet Base Model B0 for the Split Ratio: 20-10-70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Wandb Report to EfficientNet Base Model B0 for the Split Ratio: 30-10-60.</a:t>
            </a: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Wandb Report to EfficientNet Base Model B0 for the Split Ratio: 40-10-50.</a:t>
            </a: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Comparison between Performance Scaling and Step Decay -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WandB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Report</a:t>
            </a: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WandB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Report to the </a:t>
            </a:r>
            <a:r>
              <a:rPr lang="en-I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EfficientNet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Base Model B0 for the Step Decay.</a:t>
            </a: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WandB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Report for the </a:t>
            </a:r>
            <a:r>
              <a:rPr lang="en-I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EfficientNet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Base Model B0 for the Performance Scaling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883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9826-7331-42C5-6FB5-6D1CEFB3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847E3-5EA4-1552-D54C-AC2FE2C1F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Thank you for your attention!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Any questions?</a:t>
            </a:r>
          </a:p>
          <a:p>
            <a:pPr algn="ctr"/>
            <a:endParaRPr lang="en-IN" u="sng" dirty="0"/>
          </a:p>
          <a:p>
            <a:pPr algn="ctr"/>
            <a:r>
              <a:rPr lang="en-IN" u="sng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can have a look at the original paper</a:t>
            </a:r>
            <a:r>
              <a:rPr lang="en-IN" u="sng" dirty="0">
                <a:solidFill>
                  <a:schemeClr val="accent1"/>
                </a:solidFill>
              </a:rPr>
              <a:t> here!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16AA6-F91B-952C-2870-3AB3E8962DFA}"/>
              </a:ext>
            </a:extLst>
          </p:cNvPr>
          <p:cNvSpPr/>
          <p:nvPr/>
        </p:nvSpPr>
        <p:spPr>
          <a:xfrm>
            <a:off x="1781690" y="6129300"/>
            <a:ext cx="2160240" cy="2250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F3893-11A4-15BA-89AF-06CC0E61340E}"/>
              </a:ext>
            </a:extLst>
          </p:cNvPr>
          <p:cNvSpPr txBox="1"/>
          <p:nvPr/>
        </p:nvSpPr>
        <p:spPr>
          <a:xfrm>
            <a:off x="1781690" y="6169659"/>
            <a:ext cx="51755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MLRSNet | Disha Ghosh &amp;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Nizaanth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 | Page 26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113273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TU Braunschweig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Galathea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/>
      </a:spPr>
      <a:bodyPr rtlCol="0" anchor="ctr"/>
      <a:lstStyle>
        <a:defPPr algn="ctr">
          <a:defRPr dirty="0" smtClean="0"/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U Braunschweig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BE1E3C"/>
        </a:accent1>
        <a:accent2>
          <a:srgbClr val="4DA6CB"/>
        </a:accent2>
        <a:accent3>
          <a:srgbClr val="ADBF4D"/>
        </a:accent3>
        <a:accent4>
          <a:srgbClr val="FA6E00"/>
        </a:accent4>
        <a:accent5>
          <a:srgbClr val="407E97"/>
        </a:accent5>
        <a:accent6>
          <a:srgbClr val="984098"/>
        </a:accent6>
        <a:hlink>
          <a:srgbClr val="BE1E3C"/>
        </a:hlink>
        <a:folHlink>
          <a:srgbClr val="76005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2025</Words>
  <Application>Microsoft Office PowerPoint</Application>
  <PresentationFormat>On-screen Show (4:3)</PresentationFormat>
  <Paragraphs>292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Times New Roman</vt:lpstr>
      <vt:lpstr>Wingdings</vt:lpstr>
      <vt:lpstr>Standarddesign</vt:lpstr>
      <vt:lpstr>Exploring MLRSNet: A Game – Changer in Remote Sensing</vt:lpstr>
      <vt:lpstr>Welcome to our presentation</vt:lpstr>
      <vt:lpstr>Outline</vt:lpstr>
      <vt:lpstr>MLRSNet Dataset Overview</vt:lpstr>
      <vt:lpstr>Difference Between Categories and Labels</vt:lpstr>
      <vt:lpstr>EDA – Understanding Data</vt:lpstr>
      <vt:lpstr>EDA Visualisations</vt:lpstr>
      <vt:lpstr>PowerPoint Presentation</vt:lpstr>
      <vt:lpstr>PowerPoint Presentation</vt:lpstr>
      <vt:lpstr>Key Concepts in EfficientNets</vt:lpstr>
      <vt:lpstr>EfficientNet’s Novel Approach -  Compound Scaling</vt:lpstr>
      <vt:lpstr>Problem Formulation for the Proposed Compound Scaling Method</vt:lpstr>
      <vt:lpstr>Architecture</vt:lpstr>
      <vt:lpstr>Architecture</vt:lpstr>
      <vt:lpstr>Experimental Setup</vt:lpstr>
      <vt:lpstr>Experimental Setup</vt:lpstr>
      <vt:lpstr>Results</vt:lpstr>
      <vt:lpstr>Results</vt:lpstr>
      <vt:lpstr>Visualizations for Base model for the split ratio 20-10-70.</vt:lpstr>
      <vt:lpstr>Visualizations for Base model for the split ratio 30-10-60.</vt:lpstr>
      <vt:lpstr>Visualizations for Base model for the split ratio 40-10-50.</vt:lpstr>
      <vt:lpstr>Experimental Setup</vt:lpstr>
      <vt:lpstr>Comparison between the Step decay model and Performance Scheduling </vt:lpstr>
      <vt:lpstr>Results for Performance Scheduling</vt:lpstr>
      <vt:lpstr>Results for Step Decay</vt:lpstr>
      <vt:lpstr>References and Links</vt:lpstr>
      <vt:lpstr>PowerPoint Presentation</vt:lpstr>
    </vt:vector>
  </TitlesOfParts>
  <Company>wir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Mehdi Maboudi</dc:creator>
  <cp:lastModifiedBy>Disha</cp:lastModifiedBy>
  <cp:revision>1042</cp:revision>
  <cp:lastPrinted>2019-04-18T13:03:36Z</cp:lastPrinted>
  <dcterms:created xsi:type="dcterms:W3CDTF">2007-08-29T07:13:29Z</dcterms:created>
  <dcterms:modified xsi:type="dcterms:W3CDTF">2024-09-10T15:25:06Z</dcterms:modified>
</cp:coreProperties>
</file>