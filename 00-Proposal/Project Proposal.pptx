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1" r:id="rId2"/>
    <p:sldId id="272" r:id="rId3"/>
    <p:sldId id="289" r:id="rId4"/>
    <p:sldId id="282" r:id="rId5"/>
    <p:sldId id="283" r:id="rId6"/>
    <p:sldId id="284" r:id="rId7"/>
    <p:sldId id="285" r:id="rId8"/>
    <p:sldId id="286" r:id="rId9"/>
    <p:sldId id="288" r:id="rId10"/>
    <p:sldId id="287" r:id="rId11"/>
  </p:sldIdLst>
  <p:sldSz cx="9144000" cy="6858000" type="screen4x3"/>
  <p:notesSz cx="9926638" cy="6797675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828B3A7-F60A-4B7A-9425-3AB0DDB3A5E7}">
          <p14:sldIdLst>
            <p14:sldId id="281"/>
          </p14:sldIdLst>
        </p14:section>
        <p14:section name="Outline of the Presentation" id="{C8CE4D5C-C0D3-4C42-BF90-BAA18E3629AB}">
          <p14:sldIdLst>
            <p14:sldId id="272"/>
            <p14:sldId id="289"/>
          </p14:sldIdLst>
        </p14:section>
        <p14:section name="Pipeline" id="{BC4B1E71-6A20-4E90-9A17-639EE53DE2F3}">
          <p14:sldIdLst>
            <p14:sldId id="282"/>
            <p14:sldId id="283"/>
            <p14:sldId id="284"/>
            <p14:sldId id="285"/>
            <p14:sldId id="286"/>
            <p14:sldId id="288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27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us Gerke" initials="M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E00"/>
    <a:srgbClr val="049472"/>
    <a:srgbClr val="005374"/>
    <a:srgbClr val="CC0099"/>
    <a:srgbClr val="33CC33"/>
    <a:srgbClr val="009900"/>
    <a:srgbClr val="FFCD00"/>
    <a:srgbClr val="7CCDE6"/>
    <a:srgbClr val="0080B4"/>
    <a:srgbClr val="C6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89016" autoAdjust="0"/>
  </p:normalViewPr>
  <p:slideViewPr>
    <p:cSldViewPr>
      <p:cViewPr varScale="1">
        <p:scale>
          <a:sx n="73" d="100"/>
          <a:sy n="73" d="100"/>
        </p:scale>
        <p:origin x="1906" y="67"/>
      </p:cViewPr>
      <p:guideLst>
        <p:guide orient="horz" pos="459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D0860-42B8-4AF1-8A83-097607F22735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03C74-EE0D-4366-9AF9-8F4659C4D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14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defTabSz="955731">
              <a:defRPr sz="1300"/>
            </a:lvl1pPr>
          </a:lstStyle>
          <a:p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81" y="0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r" defTabSz="955731">
              <a:defRPr sz="1300"/>
            </a:lvl1pPr>
          </a:lstStyle>
          <a:p>
            <a:endParaRPr lang="de-DE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09588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21" y="3228553"/>
            <a:ext cx="7942198" cy="305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106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defTabSz="955731">
              <a:defRPr sz="1300"/>
            </a:lvl1pPr>
          </a:lstStyle>
          <a:p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81" y="6457106"/>
            <a:ext cx="4301839" cy="33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r" defTabSz="955731">
              <a:defRPr sz="1300"/>
            </a:lvl1pPr>
          </a:lstStyle>
          <a:p>
            <a:fld id="{E4AA6088-1FF0-4E53-845C-EFEDD1C948F8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7250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-braunschweig.de/en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Rectangle 22"/>
          <p:cNvSpPr>
            <a:spLocks noChangeArrowheads="1"/>
          </p:cNvSpPr>
          <p:nvPr userDrawn="1"/>
        </p:nvSpPr>
        <p:spPr bwMode="auto">
          <a:xfrm>
            <a:off x="296863" y="1449388"/>
            <a:ext cx="8550275" cy="2654300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noProof="0"/>
              <a:t>Platzhalter für Bild, Bild auf Titelfolie hinter das Logo einsetzen</a:t>
            </a:r>
          </a:p>
        </p:txBody>
      </p:sp>
      <p:sp>
        <p:nvSpPr>
          <p:cNvPr id="5" name="Rectangle 17"/>
          <p:cNvSpPr>
            <a:spLocks noChangeArrowheads="1"/>
          </p:cNvSpPr>
          <p:nvPr userDrawn="1"/>
        </p:nvSpPr>
        <p:spPr bwMode="auto">
          <a:xfrm>
            <a:off x="287338" y="4103688"/>
            <a:ext cx="8583612" cy="2192337"/>
          </a:xfrm>
          <a:prstGeom prst="rect">
            <a:avLst/>
          </a:prstGeom>
          <a:solidFill>
            <a:srgbClr val="FFF0B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noProof="0"/>
              <a:t>   </a:t>
            </a:r>
          </a:p>
        </p:txBody>
      </p:sp>
      <p:pic>
        <p:nvPicPr>
          <p:cNvPr id="6" name="Picture 16" descr="TU_Braunschweig_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338" y="1438275"/>
            <a:ext cx="8580437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13" descr="TUBS_CO_150dpi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41363"/>
            <a:ext cx="2517775" cy="939800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31850" y="4356100"/>
            <a:ext cx="7772400" cy="873125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 dirty="0"/>
              <a:t>Title of the Presentation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30263" y="5499100"/>
            <a:ext cx="7747000" cy="3333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 dirty="0"/>
              <a:t>First Name, Last Name</a:t>
            </a:r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245" y="672820"/>
            <a:ext cx="1530170" cy="10009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04219E-CCFD-4844-B96A-A1E4E0EEC6F0}"/>
              </a:ext>
            </a:extLst>
          </p:cNvPr>
          <p:cNvSpPr/>
          <p:nvPr userDrawn="1"/>
        </p:nvSpPr>
        <p:spPr>
          <a:xfrm>
            <a:off x="296863" y="6296025"/>
            <a:ext cx="8550275" cy="269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Deep Learning Course, IGP-TUBS,       Dr. -Ing. Mehdi </a:t>
            </a:r>
            <a:r>
              <a:rPr lang="en-US" sz="16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Maboudi</a:t>
            </a:r>
            <a:r>
              <a:rPr lang="en-US" sz="1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Dr. Pedro </a:t>
            </a:r>
            <a:r>
              <a:rPr lang="en-US" sz="16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Achanccaray</a:t>
            </a:r>
            <a:endParaRPr lang="en-DE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B7491F-3306-4304-9977-361BD0C1C3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0263" y="5903913"/>
            <a:ext cx="7747000" cy="333375"/>
          </a:xfrm>
        </p:spPr>
        <p:txBody>
          <a:bodyPr/>
          <a:lstStyle>
            <a:lvl1pPr algn="ctr">
              <a:defRPr/>
            </a:lvl1pPr>
          </a:lstStyle>
          <a:p>
            <a:pPr algn="ctr"/>
            <a:r>
              <a:rPr lang="en-US" kern="0" dirty="0"/>
              <a:t>Your Institute or Study program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231740" y="2078850"/>
            <a:ext cx="5040560" cy="2745305"/>
          </a:xfrm>
        </p:spPr>
        <p:txBody>
          <a:bodyPr/>
          <a:lstStyle/>
          <a:p>
            <a:pPr lvl="0"/>
            <a:endParaRPr 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513C7-0FC3-49F3-BF18-18BD13323461}"/>
              </a:ext>
            </a:extLst>
          </p:cNvPr>
          <p:cNvSpPr/>
          <p:nvPr userDrawn="1"/>
        </p:nvSpPr>
        <p:spPr>
          <a:xfrm>
            <a:off x="3671900" y="4914165"/>
            <a:ext cx="23852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source: </a:t>
            </a:r>
            <a:r>
              <a:rPr lang="en-US" sz="1200" dirty="0">
                <a:solidFill>
                  <a:schemeClr val="accent2">
                    <a:lumMod val="40000"/>
                    <a:lumOff val="6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link</a:t>
            </a:r>
            <a:endParaRPr lang="en-US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44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31800" y="111125"/>
            <a:ext cx="8375650" cy="708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431800" y="1042988"/>
            <a:ext cx="8375650" cy="4772025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D6EF-F33D-40F0-9EDE-59FDC981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A7790CA-EC38-4D19-AD22-1C0EAD25B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1620" y="1583163"/>
            <a:ext cx="7671976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18D8CC6-64BD-4F15-AEA8-D316DF3CDF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1620" y="2167788"/>
            <a:ext cx="7671976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6F7254-6B14-4298-BD30-2D2B12A496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5474" y="2752413"/>
            <a:ext cx="7671976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76EE081-C41B-4D2D-A943-D1BB106D7B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652" y="3331488"/>
            <a:ext cx="8375650" cy="405237"/>
          </a:xfrm>
        </p:spPr>
        <p:txBody>
          <a:bodyPr anchor="ctr" anchorCtr="0"/>
          <a:lstStyle>
            <a:lvl1pPr marL="0" indent="0">
              <a:buFont typeface="Arial" panose="020B0604020202020204" pitchFamily="34" charset="0"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8EE44EB-7CB4-4F9F-9DE4-D0E4602B39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7180" y="3921663"/>
            <a:ext cx="7688122" cy="405237"/>
          </a:xfrm>
        </p:spPr>
        <p:txBody>
          <a:bodyPr anchor="ctr" anchorCtr="0"/>
          <a:lstStyle>
            <a:lvl1pPr marL="2857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0DF2FE6A-6B45-46FC-809D-9372518497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35474" y="4500738"/>
            <a:ext cx="7688122" cy="405237"/>
          </a:xfrm>
        </p:spPr>
        <p:txBody>
          <a:bodyPr anchor="ctr" anchorCtr="0"/>
          <a:lstStyle>
            <a:lvl1pPr marL="2857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5C04966-48F9-46CF-B493-475D024CD3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17180" y="5079813"/>
            <a:ext cx="7688122" cy="405237"/>
          </a:xfrm>
        </p:spPr>
        <p:txBody>
          <a:bodyPr anchor="ctr" anchorCtr="0"/>
          <a:lstStyle>
            <a:lvl1pPr marL="285750" indent="-285750">
              <a:buFont typeface="Arial" panose="020B0604020202020204" pitchFamily="34" charset="0"/>
              <a:buChar char="•"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2872E6-A8DE-4CE2-9A01-D920945AC5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7946" y="992988"/>
            <a:ext cx="8375650" cy="405237"/>
          </a:xfrm>
        </p:spPr>
        <p:txBody>
          <a:bodyPr anchor="ctr" anchorCtr="0"/>
          <a:lstStyle>
            <a:lvl1pPr marL="0" indent="0">
              <a:buFontTx/>
              <a:buNone/>
              <a:def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1587" indent="0">
              <a:buNone/>
              <a:defRPr/>
            </a:lvl2pPr>
          </a:lstStyle>
          <a:p>
            <a:pPr marL="0" lvl="0" indent="3175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258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1133475"/>
          </a:xfrm>
          <a:prstGeom prst="rect">
            <a:avLst/>
          </a:prstGeom>
          <a:solidFill>
            <a:schemeClr val="hlink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Rectangle 3"/>
          <p:cNvSpPr>
            <a:spLocks noGrp="1" noChangeArrowheads="1"/>
          </p:cNvSpPr>
          <p:nvPr userDrawn="1">
            <p:ph type="body" idx="1"/>
          </p:nvPr>
        </p:nvSpPr>
        <p:spPr bwMode="gray">
          <a:xfrm>
            <a:off x="431800" y="1339851"/>
            <a:ext cx="8370888" cy="4622800"/>
          </a:xfrm>
          <a:noFill/>
        </p:spPr>
        <p:txBody>
          <a:bodyPr/>
          <a:lstStyle/>
          <a:p>
            <a:pPr lvl="1">
              <a:buClr>
                <a:srgbClr val="C0C0C0"/>
              </a:buClr>
            </a:pPr>
            <a:r>
              <a:rPr lang="de-DE" sz="2000" dirty="0" err="1">
                <a:solidFill>
                  <a:srgbClr val="C0C0C0"/>
                </a:solidFill>
              </a:rPr>
              <a:t>Kisuaeli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antux</a:t>
            </a:r>
            <a:r>
              <a:rPr lang="de-DE" sz="2000" dirty="0">
                <a:solidFill>
                  <a:srgbClr val="C0C0C0"/>
                </a:solidFill>
              </a:rPr>
              <a:t> in </a:t>
            </a:r>
            <a:r>
              <a:rPr lang="de-DE" sz="2000" dirty="0" err="1">
                <a:solidFill>
                  <a:srgbClr val="C0C0C0"/>
                </a:solidFill>
              </a:rPr>
              <a:t>weimi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kameran</a:t>
            </a:r>
            <a:r>
              <a:rPr lang="de-DE" sz="2000" dirty="0"/>
              <a:t> </a:t>
            </a:r>
          </a:p>
          <a:p>
            <a:pPr lvl="1">
              <a:buClr>
                <a:srgbClr val="C0C0C0"/>
              </a:buClr>
            </a:pPr>
            <a:r>
              <a:rPr lang="de-DE" sz="2000" dirty="0" err="1">
                <a:solidFill>
                  <a:srgbClr val="C0C0C0"/>
                </a:solidFill>
              </a:rPr>
              <a:t>Populario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falst</a:t>
            </a:r>
            <a:endParaRPr lang="de-DE" sz="2000" dirty="0">
              <a:solidFill>
                <a:srgbClr val="C0C0C0"/>
              </a:solidFill>
            </a:endParaRPr>
          </a:p>
          <a:p>
            <a:pPr lvl="1"/>
            <a:r>
              <a:rPr lang="de-DE" sz="2000" dirty="0" err="1"/>
              <a:t>Quol</a:t>
            </a:r>
            <a:r>
              <a:rPr lang="de-DE" sz="2000" dirty="0"/>
              <a:t> </a:t>
            </a:r>
            <a:r>
              <a:rPr lang="de-DE" sz="2000" dirty="0" err="1"/>
              <a:t>damnarin</a:t>
            </a:r>
            <a:r>
              <a:rPr lang="de-DE" sz="2000" dirty="0"/>
              <a:t> </a:t>
            </a:r>
            <a:r>
              <a:rPr lang="de-DE" sz="2000" dirty="0" err="1"/>
              <a:t>Tropi</a:t>
            </a:r>
            <a:r>
              <a:rPr lang="de-DE" sz="2000" dirty="0"/>
              <a:t> zu </a:t>
            </a:r>
            <a:r>
              <a:rPr lang="de-DE" sz="2000" dirty="0" err="1"/>
              <a:t>klenne</a:t>
            </a:r>
            <a:r>
              <a:rPr lang="de-DE" sz="2000" dirty="0"/>
              <a:t> </a:t>
            </a:r>
            <a:r>
              <a:rPr lang="de-DE" sz="2000" dirty="0" err="1"/>
              <a:t>perdi</a:t>
            </a:r>
            <a:r>
              <a:rPr lang="de-DE" sz="2000" dirty="0"/>
              <a:t> </a:t>
            </a:r>
          </a:p>
          <a:p>
            <a:pPr lvl="1">
              <a:buClr>
                <a:srgbClr val="C0C0C0"/>
              </a:buClr>
            </a:pPr>
            <a:r>
              <a:rPr lang="de-DE" sz="2000" dirty="0" err="1">
                <a:solidFill>
                  <a:srgbClr val="C0C0C0"/>
                </a:solidFill>
              </a:rPr>
              <a:t>Utilira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regau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socht</a:t>
            </a:r>
            <a:r>
              <a:rPr lang="de-DE" sz="2000" dirty="0">
                <a:solidFill>
                  <a:srgbClr val="C0C0C0"/>
                </a:solidFill>
              </a:rPr>
              <a:t> mol sunt</a:t>
            </a:r>
          </a:p>
          <a:p>
            <a:pPr lvl="1">
              <a:buClr>
                <a:srgbClr val="C0C0C0"/>
              </a:buClr>
            </a:pPr>
            <a:r>
              <a:rPr lang="de-DE" sz="2000" dirty="0">
                <a:solidFill>
                  <a:srgbClr val="C0C0C0"/>
                </a:solidFill>
              </a:rPr>
              <a:t>Her </a:t>
            </a:r>
            <a:r>
              <a:rPr lang="de-DE" sz="2000" dirty="0" err="1">
                <a:solidFill>
                  <a:srgbClr val="C0C0C0"/>
                </a:solidFill>
              </a:rPr>
              <a:t>mitant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dur</a:t>
            </a:r>
            <a:r>
              <a:rPr lang="de-DE" sz="2000" dirty="0">
                <a:solidFill>
                  <a:srgbClr val="C0C0C0"/>
                </a:solidFill>
              </a:rPr>
              <a:t> </a:t>
            </a:r>
            <a:r>
              <a:rPr lang="de-DE" sz="2000" dirty="0" err="1">
                <a:solidFill>
                  <a:srgbClr val="C0C0C0"/>
                </a:solidFill>
              </a:rPr>
              <a:t>Wolche</a:t>
            </a:r>
            <a:r>
              <a:rPr lang="de-DE" sz="2000" dirty="0">
                <a:solidFill>
                  <a:srgbClr val="C0C0C0"/>
                </a:solidFill>
              </a:rPr>
              <a:t> to </a:t>
            </a:r>
            <a:r>
              <a:rPr lang="de-DE" sz="2000" dirty="0" err="1">
                <a:solidFill>
                  <a:srgbClr val="C0C0C0"/>
                </a:solidFill>
              </a:rPr>
              <a:t>illemit</a:t>
            </a:r>
            <a:endParaRPr lang="de-DE" sz="2000" dirty="0">
              <a:solidFill>
                <a:srgbClr val="C0C0C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 userDrawn="1"/>
        </p:nvSpPr>
        <p:spPr bwMode="auto">
          <a:xfrm>
            <a:off x="0" y="0"/>
            <a:ext cx="9144000" cy="863600"/>
          </a:xfrm>
          <a:prstGeom prst="rect">
            <a:avLst/>
          </a:prstGeom>
          <a:solidFill>
            <a:srgbClr val="DDDDDD"/>
          </a:solidFill>
          <a:ln w="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>
              <a:solidFill>
                <a:schemeClr val="accent2"/>
              </a:solidFill>
            </a:endParaRPr>
          </a:p>
        </p:txBody>
      </p:sp>
      <p:sp>
        <p:nvSpPr>
          <p:cNvPr id="1038" name="Line 14"/>
          <p:cNvSpPr>
            <a:spLocks noChangeShapeType="1"/>
          </p:cNvSpPr>
          <p:nvPr userDrawn="1"/>
        </p:nvSpPr>
        <p:spPr bwMode="auto">
          <a:xfrm>
            <a:off x="0" y="6091238"/>
            <a:ext cx="9144000" cy="0"/>
          </a:xfrm>
          <a:prstGeom prst="line">
            <a:avLst/>
          </a:prstGeom>
          <a:noFill/>
          <a:ln w="9525">
            <a:solidFill>
              <a:srgbClr val="BE1E3C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11125"/>
            <a:ext cx="83756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042988"/>
            <a:ext cx="8375650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44" name="Picture 20" descr="TUBS_CO_70vH_150dpi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0" y="5915025"/>
            <a:ext cx="1762125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/>
          <p:nvPr userDrawn="1"/>
        </p:nvSpPr>
        <p:spPr>
          <a:xfrm>
            <a:off x="1821600" y="6140450"/>
            <a:ext cx="213359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/>
              <a:t>Deep learning, </a:t>
            </a:r>
            <a:r>
              <a:rPr lang="de-DE" sz="800" dirty="0">
                <a:highlight>
                  <a:srgbClr val="FFFF00"/>
                </a:highlight>
              </a:rPr>
              <a:t>TOPIC</a:t>
            </a:r>
            <a:r>
              <a:rPr lang="de-DE" sz="800" dirty="0"/>
              <a:t>| </a:t>
            </a:r>
            <a:r>
              <a:rPr lang="de-DE" sz="800" dirty="0">
                <a:highlight>
                  <a:srgbClr val="FFFF00"/>
                </a:highlight>
              </a:rPr>
              <a:t>YOUR NAME</a:t>
            </a:r>
            <a:r>
              <a:rPr lang="de-DE" sz="800" baseline="0" dirty="0"/>
              <a:t>| </a:t>
            </a:r>
            <a:r>
              <a:rPr lang="de-DE" sz="800" dirty="0"/>
              <a:t>page</a:t>
            </a:r>
            <a:r>
              <a:rPr lang="de-DE" sz="800" baseline="0" dirty="0"/>
              <a:t> </a:t>
            </a:r>
            <a:fld id="{54091A06-E49E-4F45-A4ED-27B9A60B04AE}" type="slidenum">
              <a:rPr lang="de-DE" sz="800" baseline="0" smtClean="0"/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800" dirty="0"/>
          </a:p>
          <a:p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350" y="5854189"/>
            <a:ext cx="1090395" cy="713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4" r:id="rId4"/>
    <p:sldLayoutId id="2147483660" r:id="rId5"/>
    <p:sldLayoutId id="2147483662" r:id="rId6"/>
    <p:sldLayoutId id="2147483661" r:id="rId7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Arial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90500" indent="-188913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2pPr>
      <a:lvl3pPr marL="361950" indent="-169863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3pPr>
      <a:lvl4pPr marL="542925" indent="-179388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4pPr>
      <a:lvl5pPr marL="742950" indent="-198438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12001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6573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1145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571750" indent="-198438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ugbrs/MLRSNet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ep-Learning-IGP-TUBS-SoSe2024/Group_01/blob/main/Assignments/Assignment%2003/data_generator.py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00243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00243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00243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010.00243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8E0D-514D-4DEC-B792-1C4D895A8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Project Proposal: MLRSNet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B90F6-C244-40D2-B5EA-8E9AAC57C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Disha Ghosh, Nizaanth Raja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76B53-031F-4B90-A6B8-9126A73648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MSc. Data Science, MSc. Computation Science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3DBD7-D324-480A-B37A-B2EB98CEA56B}"/>
              </a:ext>
            </a:extLst>
          </p:cNvPr>
          <p:cNvSpPr txBox="1"/>
          <p:nvPr/>
        </p:nvSpPr>
        <p:spPr>
          <a:xfrm>
            <a:off x="7677345" y="840859"/>
            <a:ext cx="135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25-June-24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3107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2FD3-DE2B-46D8-A603-5B7C6294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480FA-4491-4EB1-BE31-669CD4235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1800" y="1161185"/>
            <a:ext cx="7671976" cy="4052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Data Generator Implementation</a:t>
            </a:r>
            <a:endParaRPr lang="en-US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62D69-C80C-4E29-978C-9EEBA50533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800" y="1908457"/>
            <a:ext cx="7671976" cy="4052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Model Development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ED328D-3484-419F-810A-E62320C979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2655944"/>
            <a:ext cx="7671976" cy="4052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Improving CNN Training</a:t>
            </a:r>
            <a:endParaRPr lang="en-US" dirty="0"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4A1207-18DC-491E-BF7F-8799A08431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800" y="3359117"/>
            <a:ext cx="7688122" cy="4052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Transfer Learning</a:t>
            </a:r>
            <a:endParaRPr lang="en-US" dirty="0">
              <a:latin typeface="+mn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F5AE19-335E-49F8-B4DE-B56A7BE45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1800" y="4106389"/>
            <a:ext cx="7688122" cy="405237"/>
          </a:xfrm>
        </p:spPr>
        <p:txBody>
          <a:bodyPr/>
          <a:lstStyle/>
          <a:p>
            <a:r>
              <a:rPr lang="en-IN" dirty="0">
                <a:latin typeface="+mn-lt"/>
              </a:rPr>
              <a:t>Model Evaluation</a:t>
            </a:r>
            <a:endParaRPr lang="en-US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329532-C4E2-AE55-D26C-327814B633C6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7E6F6-B702-46A8-66CA-E930B5098522}"/>
              </a:ext>
            </a:extLst>
          </p:cNvPr>
          <p:cNvSpPr txBox="1"/>
          <p:nvPr/>
        </p:nvSpPr>
        <p:spPr>
          <a:xfrm>
            <a:off x="1736685" y="6129300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1</a:t>
            </a:r>
          </a:p>
        </p:txBody>
      </p:sp>
    </p:spTree>
    <p:extLst>
      <p:ext uri="{BB962C8B-B14F-4D97-AF65-F5344CB8AC3E}">
        <p14:creationId xmlns:p14="http://schemas.microsoft.com/office/powerpoint/2010/main" val="138598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3F68-226A-E115-CC98-D29F2356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Recap!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4F3257-5B3E-D3CC-F26E-A13143061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946" y="3654025"/>
            <a:ext cx="8375650" cy="4052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MLRSNet</a:t>
            </a:r>
            <a:r>
              <a:rPr lang="en-US" dirty="0"/>
              <a:t> dataset is composed of high spatial resolution optical satellite images.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comprises over 109,161 remote - sensing images, each labeled with one or more of the 46 categories,  and the number of sample images in a category varies from 1,500 to 3,000.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images have a fixed size of 256×256 pixels. Moreover, each image in the dataset is tagged with several of 60 predefined class labels, and the number of labels associated with each image varies from 1 to 13.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categories cover a wide range of natural and man-made objects, making the dataset versatile for various applications. This diversity helps in building robust models that can generalize well across different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Source: </a:t>
            </a:r>
            <a:r>
              <a:rPr lang="en-US" dirty="0" err="1">
                <a:hlinkClick r:id="rId2"/>
              </a:rPr>
              <a:t>MLRSNet</a:t>
            </a:r>
            <a:r>
              <a:rPr lang="en-US" dirty="0">
                <a:hlinkClick r:id="rId2"/>
              </a:rPr>
              <a:t> GitHub</a:t>
            </a:r>
            <a:endParaRPr lang="en-IN" dirty="0"/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AA785C-C245-BBF3-1446-4FE4309A36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sz="1800" dirty="0"/>
              <a:t>What is </a:t>
            </a:r>
            <a:r>
              <a:rPr lang="en-IN" sz="1800" dirty="0" err="1"/>
              <a:t>MLRSNet</a:t>
            </a:r>
            <a:r>
              <a:rPr lang="en-IN" sz="1800" dirty="0"/>
              <a:t> Dataset?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5B0488-BC87-FECC-E194-202FB0122682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50D7D0-CB98-04C3-BBC2-CA8A0E4A88AE}"/>
              </a:ext>
            </a:extLst>
          </p:cNvPr>
          <p:cNvSpPr txBox="1"/>
          <p:nvPr/>
        </p:nvSpPr>
        <p:spPr>
          <a:xfrm>
            <a:off x="1736685" y="6129300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2</a:t>
            </a:r>
          </a:p>
        </p:txBody>
      </p:sp>
    </p:spTree>
    <p:extLst>
      <p:ext uri="{BB962C8B-B14F-4D97-AF65-F5344CB8AC3E}">
        <p14:creationId xmlns:p14="http://schemas.microsoft.com/office/powerpoint/2010/main" val="110570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7BA4-0046-D8D4-F7AD-B27E3948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11125"/>
            <a:ext cx="8712200" cy="708025"/>
          </a:xfrm>
        </p:spPr>
        <p:txBody>
          <a:bodyPr/>
          <a:lstStyle/>
          <a:p>
            <a:r>
              <a:rPr lang="en-IN" dirty="0"/>
              <a:t>Data Generator Implementation                                                        </a:t>
            </a:r>
            <a:r>
              <a:rPr lang="en-IN" sz="1200" dirty="0"/>
              <a:t>Source: </a:t>
            </a:r>
            <a:r>
              <a:rPr lang="en-IN" sz="1200" dirty="0" err="1">
                <a:hlinkClick r:id="rId2"/>
              </a:rPr>
              <a:t>Github</a:t>
            </a:r>
            <a:endParaRPr lang="en-IN" sz="12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4DAAA9B-D338-9E43-1CD2-5C0659C6F922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431800" y="928315"/>
            <a:ext cx="8280400" cy="5001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Key Components: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Constructor (</a:t>
            </a:r>
            <a:r>
              <a:rPr kumimoji="0" lang="en-US" altLang="en-US" sz="14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init</a:t>
            </a: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Initialises</a:t>
            </a: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data generator with the following parameters: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path_images</a:t>
            </a: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Array of image file paths.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labels: Array of corresponding labels.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batch_size</a:t>
            </a: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Number of samples per batch.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n_classes</a:t>
            </a: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Number of classes for classification.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target_size</a:t>
            </a: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Target size for each image (default is 256x256).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shuffle: Whether to shuffle the data after each epoch (default is True).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2. </a:t>
            </a:r>
            <a:r>
              <a:rPr lang="en-IN" sz="1450" b="1" dirty="0" err="1">
                <a:latin typeface="+mn-lt"/>
              </a:rPr>
              <a:t>on_epoch_end</a:t>
            </a:r>
            <a:r>
              <a:rPr lang="en-IN" sz="1450" b="1" dirty="0">
                <a:latin typeface="+mn-lt"/>
              </a:rPr>
              <a:t>(): </a:t>
            </a:r>
            <a:r>
              <a:rPr lang="en-US" sz="1450" dirty="0">
                <a:latin typeface="+mn-lt"/>
              </a:rPr>
              <a:t>Shuffles the dataset after each epoch if shuffle is set to True.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145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altLang="en-US" sz="1450" b="1" dirty="0">
                <a:latin typeface="+mn-lt"/>
              </a:rPr>
              <a:t>3. </a:t>
            </a:r>
            <a:r>
              <a:rPr lang="en-IN" altLang="en-US" sz="1450" b="1" dirty="0" err="1">
                <a:latin typeface="+mn-lt"/>
              </a:rPr>
              <a:t>len</a:t>
            </a:r>
            <a:r>
              <a:rPr lang="en-IN" altLang="en-US" sz="1450" b="1" dirty="0">
                <a:latin typeface="+mn-lt"/>
              </a:rPr>
              <a:t>(): </a:t>
            </a:r>
            <a:r>
              <a:rPr lang="en-US" sz="1450" dirty="0">
                <a:latin typeface="+mn-lt"/>
              </a:rPr>
              <a:t>Returns the number of batches per epoch based on the batch size.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altLang="en-US" sz="145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4. </a:t>
            </a:r>
            <a:r>
              <a:rPr lang="en-IN" sz="1450" b="1" dirty="0">
                <a:latin typeface="+mn-lt"/>
              </a:rPr>
              <a:t>__</a:t>
            </a:r>
            <a:r>
              <a:rPr lang="en-IN" sz="1450" b="1" dirty="0" err="1">
                <a:latin typeface="+mn-lt"/>
              </a:rPr>
              <a:t>get_image</a:t>
            </a:r>
            <a:r>
              <a:rPr lang="en-IN" sz="1450" b="1" dirty="0">
                <a:latin typeface="+mn-lt"/>
              </a:rPr>
              <a:t>(</a:t>
            </a:r>
            <a:r>
              <a:rPr lang="en-IN" sz="1450" b="1" dirty="0" err="1">
                <a:latin typeface="+mn-lt"/>
              </a:rPr>
              <a:t>path_image</a:t>
            </a:r>
            <a:r>
              <a:rPr lang="en-IN" sz="1450" b="1" dirty="0">
                <a:latin typeface="+mn-lt"/>
              </a:rPr>
              <a:t>): </a:t>
            </a:r>
            <a:r>
              <a:rPr lang="en-US" sz="1450" dirty="0">
                <a:latin typeface="+mn-lt"/>
              </a:rPr>
              <a:t>Reads an image from the given path, resizes it to the target size, converts it to RGB, expands dimensions for batching, and normalizes pixel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145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5. </a:t>
            </a:r>
            <a:r>
              <a:rPr lang="en-IN" sz="1450" b="1" dirty="0">
                <a:latin typeface="+mn-lt"/>
              </a:rPr>
              <a:t>__</a:t>
            </a:r>
            <a:r>
              <a:rPr lang="en-IN" sz="1450" b="1" dirty="0" err="1">
                <a:latin typeface="+mn-lt"/>
              </a:rPr>
              <a:t>get_label</a:t>
            </a:r>
            <a:r>
              <a:rPr lang="en-IN" sz="1450" b="1" dirty="0">
                <a:latin typeface="+mn-lt"/>
              </a:rPr>
              <a:t>(label): </a:t>
            </a:r>
            <a:r>
              <a:rPr lang="en-US" sz="1450" dirty="0">
                <a:latin typeface="+mn-lt"/>
              </a:rPr>
              <a:t>Converts the label to one-hot encoding.</a:t>
            </a:r>
            <a:endParaRPr lang="en-IN" sz="1450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6. </a:t>
            </a:r>
            <a:r>
              <a:rPr lang="en-IN" sz="1450" b="1" dirty="0" err="1">
                <a:latin typeface="+mn-lt"/>
              </a:rPr>
              <a:t>getitem</a:t>
            </a:r>
            <a:r>
              <a:rPr lang="en-IN" sz="1450" b="1" dirty="0">
                <a:latin typeface="+mn-lt"/>
              </a:rPr>
              <a:t>(</a:t>
            </a:r>
            <a:r>
              <a:rPr lang="en-IN" sz="1450" b="1" dirty="0" err="1">
                <a:latin typeface="+mn-lt"/>
              </a:rPr>
              <a:t>idx</a:t>
            </a:r>
            <a:r>
              <a:rPr lang="en-IN" sz="1450" b="1" dirty="0">
                <a:latin typeface="+mn-lt"/>
              </a:rPr>
              <a:t>): </a:t>
            </a:r>
            <a:r>
              <a:rPr lang="en-US" sz="1450" dirty="0">
                <a:latin typeface="+mn-lt"/>
              </a:rPr>
              <a:t>Retrieves a batch of images and their corresponding labels, reads and preprocesses each image and label in the batch, returns a tuple of image and label arrays ready for training.</a:t>
            </a:r>
            <a:endParaRPr kumimoji="0" lang="en-US" altLang="en-US" sz="14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05D770-311A-C718-042B-CB117ECA6EB2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2BCE9-3AC9-2538-F8C4-EC5F87FAA26B}"/>
              </a:ext>
            </a:extLst>
          </p:cNvPr>
          <p:cNvSpPr txBox="1"/>
          <p:nvPr/>
        </p:nvSpPr>
        <p:spPr>
          <a:xfrm>
            <a:off x="1736685" y="6120559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3</a:t>
            </a:r>
          </a:p>
        </p:txBody>
      </p:sp>
    </p:spTree>
    <p:extLst>
      <p:ext uri="{BB962C8B-B14F-4D97-AF65-F5344CB8AC3E}">
        <p14:creationId xmlns:p14="http://schemas.microsoft.com/office/powerpoint/2010/main" val="3977453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9772-D22E-D858-0CF7-1CD5EEB9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13665"/>
            <a:ext cx="8375650" cy="708025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Model Development                              </a:t>
            </a:r>
            <a:r>
              <a:rPr lang="en-IN" sz="1200" dirty="0"/>
              <a:t>Source: </a:t>
            </a:r>
            <a:r>
              <a:rPr lang="en-IN" sz="1200" dirty="0">
                <a:hlinkClick r:id="rId2"/>
              </a:rPr>
              <a:t>Original Paper on </a:t>
            </a:r>
            <a:r>
              <a:rPr lang="en-IN" sz="1200" dirty="0" err="1">
                <a:hlinkClick r:id="rId2"/>
              </a:rPr>
              <a:t>MLRSNet</a:t>
            </a:r>
            <a:r>
              <a:rPr lang="en-IN" sz="1200" dirty="0">
                <a:hlinkClick r:id="rId2"/>
              </a:rPr>
              <a:t> dataset.</a:t>
            </a:r>
            <a:br>
              <a:rPr lang="en-IN" sz="2400" dirty="0"/>
            </a:b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9896FD-6935-7C87-7816-A2F12C437D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800" y="4419110"/>
            <a:ext cx="8375650" cy="4052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1450" b="1" dirty="0">
                <a:latin typeface="+mn-lt"/>
              </a:rPr>
              <a:t>Vanilla CNN:</a:t>
            </a:r>
            <a:endParaRPr lang="en-IN" sz="145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50" dirty="0"/>
              <a:t>Convolutional neural network with a custom number of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50" dirty="0"/>
              <a:t>Serves as a benchmark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50" b="1" dirty="0">
                <a:latin typeface="+mn-lt"/>
              </a:rPr>
              <a:t>VGGNet16:</a:t>
            </a:r>
            <a:endParaRPr lang="en-IN" sz="145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50" dirty="0"/>
              <a:t>Deeper network with 16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50" dirty="0"/>
              <a:t>Known for simplicity and effectiveness.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50" b="1" dirty="0">
                <a:latin typeface="+mn-lt"/>
              </a:rPr>
              <a:t>DenseNet201:</a:t>
            </a:r>
            <a:endParaRPr lang="en-IN" sz="145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50" dirty="0"/>
              <a:t>Utilizes dense blocks to improve information flow.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50" dirty="0"/>
              <a:t>Deeper network with 201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50" dirty="0"/>
          </a:p>
          <a:p>
            <a:pPr marL="457200" lvl="1"/>
            <a:endParaRPr lang="en-IN" sz="1450" dirty="0"/>
          </a:p>
          <a:p>
            <a:endParaRPr lang="en-IN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F53C4A-9718-0C3E-C86A-DCC67CC6447E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FF0A80-AD52-1794-434D-F5D6B6DAD61D}"/>
              </a:ext>
            </a:extLst>
          </p:cNvPr>
          <p:cNvSpPr txBox="1"/>
          <p:nvPr/>
        </p:nvSpPr>
        <p:spPr>
          <a:xfrm>
            <a:off x="1736685" y="6120559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4</a:t>
            </a:r>
          </a:p>
        </p:txBody>
      </p:sp>
    </p:spTree>
    <p:extLst>
      <p:ext uri="{BB962C8B-B14F-4D97-AF65-F5344CB8AC3E}">
        <p14:creationId xmlns:p14="http://schemas.microsoft.com/office/powerpoint/2010/main" val="190759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7C41-458C-BB70-A3C5-12771C65D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95" y="225025"/>
            <a:ext cx="8375650" cy="818710"/>
          </a:xfrm>
        </p:spPr>
        <p:txBody>
          <a:bodyPr/>
          <a:lstStyle/>
          <a:p>
            <a:r>
              <a:rPr lang="en-IN" dirty="0"/>
              <a:t>Improving CNN Training                        </a:t>
            </a:r>
            <a:r>
              <a:rPr lang="en-IN" sz="1200" dirty="0"/>
              <a:t>Source: </a:t>
            </a:r>
            <a:r>
              <a:rPr lang="en-IN" sz="1200" dirty="0">
                <a:hlinkClick r:id="rId2"/>
              </a:rPr>
              <a:t>Original Paper on </a:t>
            </a:r>
            <a:r>
              <a:rPr lang="en-IN" sz="1200" dirty="0" err="1">
                <a:hlinkClick r:id="rId2"/>
              </a:rPr>
              <a:t>MLRSNet</a:t>
            </a:r>
            <a:r>
              <a:rPr lang="en-IN" sz="1200" dirty="0">
                <a:hlinkClick r:id="rId2"/>
              </a:rPr>
              <a:t> dataset.</a:t>
            </a:r>
            <a:br>
              <a:rPr lang="en-IN" sz="1200" dirty="0"/>
            </a:br>
            <a:endParaRPr lang="en-IN" sz="12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729639B-E59D-C608-BBD9-D88C92F7D201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431800" y="1043735"/>
            <a:ext cx="8375650" cy="343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Regularization Techniques:</a:t>
            </a: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Dropout: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Randomly drop neurons during training to prevent overfitting</a:t>
            </a:r>
            <a:r>
              <a:rPr lang="en-US" altLang="en-US" sz="1450" dirty="0">
                <a:latin typeface="+mn-lt"/>
              </a:rPr>
              <a:t>, depending on the accuracy of the model.</a:t>
            </a: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Early Stopping: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Halt training when performance on the validation set stops improving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(tentatively: Patience Level of 20).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Batch Normalization: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Normalize activations to accelerate training and improve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50" b="1" dirty="0">
                <a:latin typeface="+mn-lt"/>
              </a:rPr>
              <a:t>2. </a:t>
            </a: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 Learning Rate: 0.01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50" b="1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3.   </a:t>
            </a:r>
            <a:r>
              <a:rPr kumimoji="0" lang="en-US" altLang="en-US" sz="14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Optimiser</a:t>
            </a: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 Adam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50" b="1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4.   Batch Size: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D26AC4-57AB-7E88-C5FC-9DDC2779CAAE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BD505-BF99-687C-9951-DADAAA4BAAAC}"/>
              </a:ext>
            </a:extLst>
          </p:cNvPr>
          <p:cNvSpPr txBox="1"/>
          <p:nvPr/>
        </p:nvSpPr>
        <p:spPr>
          <a:xfrm>
            <a:off x="1736685" y="6120559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5</a:t>
            </a:r>
          </a:p>
        </p:txBody>
      </p:sp>
    </p:spTree>
    <p:extLst>
      <p:ext uri="{BB962C8B-B14F-4D97-AF65-F5344CB8AC3E}">
        <p14:creationId xmlns:p14="http://schemas.microsoft.com/office/powerpoint/2010/main" val="87436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9FAD-53A5-DB97-0D5E-494D417A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Transfer Learning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678586-45FC-7399-5A7B-F64BC4536A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800" y="2303875"/>
            <a:ext cx="8375650" cy="405237"/>
          </a:xfrm>
        </p:spPr>
        <p:txBody>
          <a:bodyPr/>
          <a:lstStyle/>
          <a:p>
            <a:r>
              <a:rPr lang="en-US" sz="1450" b="1" dirty="0">
                <a:latin typeface="+mn-lt"/>
              </a:rPr>
              <a:t>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latin typeface="+mn-lt"/>
              </a:rPr>
              <a:t>Pretrained Models:</a:t>
            </a:r>
            <a:endParaRPr lang="en-US" sz="145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50" dirty="0"/>
              <a:t>Utilize models pretrained on large datasets like ImageNet.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50" dirty="0"/>
              <a:t>Example: VGGNet16 and DenseNet201 as used in the </a:t>
            </a:r>
            <a:r>
              <a:rPr lang="en-US" sz="1450" dirty="0">
                <a:hlinkClick r:id="rId2"/>
              </a:rPr>
              <a:t>original research paper</a:t>
            </a:r>
            <a:r>
              <a:rPr lang="en-US" sz="145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latin typeface="+mn-lt"/>
              </a:rPr>
              <a:t>Fine-Tuning:</a:t>
            </a:r>
            <a:endParaRPr lang="en-US" sz="145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50" dirty="0"/>
              <a:t>Start with pretrained weights.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50" dirty="0"/>
              <a:t>Retrain some or all layers on the </a:t>
            </a:r>
            <a:r>
              <a:rPr lang="en-US" sz="1450" dirty="0" err="1"/>
              <a:t>MLRSNet</a:t>
            </a:r>
            <a:r>
              <a:rPr lang="en-US" sz="1450" dirty="0"/>
              <a:t>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50" b="1" dirty="0">
                <a:latin typeface="+mn-lt"/>
              </a:rPr>
              <a:t>Custom Architectures:</a:t>
            </a:r>
            <a:endParaRPr lang="en-US" sz="1450" dirty="0"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50" dirty="0"/>
              <a:t>Experiment with advanced architectures or modifications to existing models to enhance performance.  </a:t>
            </a:r>
          </a:p>
          <a:p>
            <a:endParaRPr lang="en-IN" sz="145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DF95EF-441B-FD02-6205-2F3D46AF385F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5487C-D42A-F5F8-5D18-5243F35F867A}"/>
              </a:ext>
            </a:extLst>
          </p:cNvPr>
          <p:cNvSpPr txBox="1"/>
          <p:nvPr/>
        </p:nvSpPr>
        <p:spPr>
          <a:xfrm>
            <a:off x="1736685" y="6120559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6</a:t>
            </a:r>
          </a:p>
        </p:txBody>
      </p:sp>
    </p:spTree>
    <p:extLst>
      <p:ext uri="{BB962C8B-B14F-4D97-AF65-F5344CB8AC3E}">
        <p14:creationId xmlns:p14="http://schemas.microsoft.com/office/powerpoint/2010/main" val="24527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81F6-1F40-A0DC-10E6-9C3D95B9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46" y="458670"/>
            <a:ext cx="8375650" cy="708025"/>
          </a:xfrm>
        </p:spPr>
        <p:txBody>
          <a:bodyPr/>
          <a:lstStyle/>
          <a:p>
            <a:br>
              <a:rPr lang="en-IN" dirty="0"/>
            </a:br>
            <a:r>
              <a:rPr lang="en-IN" dirty="0"/>
              <a:t>Model Evaluation                                   </a:t>
            </a:r>
            <a:r>
              <a:rPr lang="en-IN" sz="1200" dirty="0"/>
              <a:t>Source: </a:t>
            </a:r>
            <a:r>
              <a:rPr lang="en-IN" sz="1200" dirty="0">
                <a:hlinkClick r:id="rId2"/>
              </a:rPr>
              <a:t>Original Paper on </a:t>
            </a:r>
            <a:r>
              <a:rPr lang="en-IN" sz="1200" dirty="0" err="1">
                <a:hlinkClick r:id="rId2"/>
              </a:rPr>
              <a:t>MLRSNet</a:t>
            </a:r>
            <a:r>
              <a:rPr lang="en-IN" sz="1200" dirty="0">
                <a:hlinkClick r:id="rId2"/>
              </a:rPr>
              <a:t> dataset.</a:t>
            </a:r>
            <a:br>
              <a:rPr lang="en-IN" sz="4400" dirty="0"/>
            </a:br>
            <a:endParaRPr lang="en-IN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6582737-CDF2-3B3B-4A38-500E121E29F8}"/>
              </a:ext>
            </a:extLst>
          </p:cNvPr>
          <p:cNvSpPr>
            <a:spLocks noGrp="1" noChangeArrowheads="1"/>
          </p:cNvSpPr>
          <p:nvPr>
            <p:ph type="body" sz="quarter" idx="18"/>
          </p:nvPr>
        </p:nvSpPr>
        <p:spPr bwMode="auto">
          <a:xfrm>
            <a:off x="448546" y="1068946"/>
            <a:ext cx="7146508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Metrics:</a:t>
            </a: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Mean Average Precision (</a:t>
            </a:r>
            <a:r>
              <a:rPr kumimoji="0" lang="en-US" altLang="en-US" sz="14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mAP</a:t>
            </a: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):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Measure of precision across different thresholds.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Average F1 Score:</a:t>
            </a:r>
            <a:r>
              <a:rPr kumimoji="0" lang="en-US" altLang="en-US" sz="14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Harmonic mean of precision and recall.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6E805-8731-3554-7580-69DBBE77A9A4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B69B0-62E5-1024-2342-F684C7533833}"/>
              </a:ext>
            </a:extLst>
          </p:cNvPr>
          <p:cNvSpPr txBox="1"/>
          <p:nvPr/>
        </p:nvSpPr>
        <p:spPr>
          <a:xfrm>
            <a:off x="1736685" y="6129300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7</a:t>
            </a:r>
          </a:p>
        </p:txBody>
      </p:sp>
    </p:spTree>
    <p:extLst>
      <p:ext uri="{BB962C8B-B14F-4D97-AF65-F5344CB8AC3E}">
        <p14:creationId xmlns:p14="http://schemas.microsoft.com/office/powerpoint/2010/main" val="362273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7387-D4BE-CF47-B3E6-5FEF5D4A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Results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FD76A5-73DD-13B7-6A2F-78BA2306B6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800" y="1313765"/>
            <a:ext cx="8375650" cy="405237"/>
          </a:xfrm>
        </p:spPr>
        <p:txBody>
          <a:bodyPr/>
          <a:lstStyle/>
          <a:p>
            <a:r>
              <a:rPr lang="en-US" sz="1450" dirty="0">
                <a:latin typeface="+mn-lt"/>
              </a:rPr>
              <a:t>We anticipate that our custom CNN to perform on par if not better than the fine-tuned deep learning models , with the DenseNet201 expected to reach approximately 90% accuracy. </a:t>
            </a:r>
            <a:endParaRPr lang="en-IN" sz="1450" dirty="0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1FD71-24B2-865D-A38C-919BBFEDD18A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8A5348-8D00-96B0-046D-06A7B3F264A6}"/>
              </a:ext>
            </a:extLst>
          </p:cNvPr>
          <p:cNvSpPr txBox="1"/>
          <p:nvPr/>
        </p:nvSpPr>
        <p:spPr>
          <a:xfrm>
            <a:off x="1736685" y="6129300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8</a:t>
            </a:r>
          </a:p>
        </p:txBody>
      </p:sp>
    </p:spTree>
    <p:extLst>
      <p:ext uri="{BB962C8B-B14F-4D97-AF65-F5344CB8AC3E}">
        <p14:creationId xmlns:p14="http://schemas.microsoft.com/office/powerpoint/2010/main" val="406356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0713-4800-B313-89A0-58DD0C09A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4C7129-BBDA-003B-8122-6EC24E3A4D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92786" y="3429000"/>
            <a:ext cx="5358427" cy="307725"/>
          </a:xfrm>
        </p:spPr>
        <p:txBody>
          <a:bodyPr/>
          <a:lstStyle/>
          <a:p>
            <a:pPr algn="ctr"/>
            <a:r>
              <a:rPr lang="en-IN" sz="1800" dirty="0"/>
              <a:t>Thank You!</a:t>
            </a:r>
          </a:p>
          <a:p>
            <a:pPr algn="ctr"/>
            <a:r>
              <a:rPr lang="en-IN" sz="1800" dirty="0"/>
              <a:t>Open to Recommendations.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5349A5-9F17-C5A7-6C0D-D765B5BB74B8}"/>
              </a:ext>
            </a:extLst>
          </p:cNvPr>
          <p:cNvSpPr/>
          <p:nvPr/>
        </p:nvSpPr>
        <p:spPr>
          <a:xfrm>
            <a:off x="1826695" y="6129300"/>
            <a:ext cx="2250250" cy="17502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413BC-68CF-8C21-C311-6C9FDB2DE434}"/>
              </a:ext>
            </a:extLst>
          </p:cNvPr>
          <p:cNvSpPr txBox="1"/>
          <p:nvPr/>
        </p:nvSpPr>
        <p:spPr>
          <a:xfrm>
            <a:off x="1794052" y="6129300"/>
            <a:ext cx="4455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Deep Learning, </a:t>
            </a:r>
            <a:r>
              <a:rPr lang="en-IN" sz="1100" dirty="0" err="1"/>
              <a:t>MLRSNet</a:t>
            </a:r>
            <a:r>
              <a:rPr lang="en-IN" sz="1100" dirty="0"/>
              <a:t> | Disha Ghosh, </a:t>
            </a:r>
            <a:r>
              <a:rPr lang="en-IN" sz="1100" dirty="0" err="1"/>
              <a:t>Nizaanth</a:t>
            </a:r>
            <a:r>
              <a:rPr lang="en-IN" sz="1100" dirty="0"/>
              <a:t> Raja | Page 9</a:t>
            </a:r>
          </a:p>
        </p:txBody>
      </p:sp>
    </p:spTree>
    <p:extLst>
      <p:ext uri="{BB962C8B-B14F-4D97-AF65-F5344CB8AC3E}">
        <p14:creationId xmlns:p14="http://schemas.microsoft.com/office/powerpoint/2010/main" val="856871831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TU Braunschweig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dirty="0" smtClean="0"/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U Braunschweig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BE1E3C"/>
        </a:accent1>
        <a:accent2>
          <a:srgbClr val="4DA6CB"/>
        </a:accent2>
        <a:accent3>
          <a:srgbClr val="ADBF4D"/>
        </a:accent3>
        <a:accent4>
          <a:srgbClr val="FA6E00"/>
        </a:accent4>
        <a:accent5>
          <a:srgbClr val="407E97"/>
        </a:accent5>
        <a:accent6>
          <a:srgbClr val="984098"/>
        </a:accent6>
        <a:hlink>
          <a:srgbClr val="BE1E3C"/>
        </a:hlink>
        <a:folHlink>
          <a:srgbClr val="76005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793</Words>
  <Application>Microsoft Office PowerPoint</Application>
  <PresentationFormat>On-screen Show (4:3)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Wingdings</vt:lpstr>
      <vt:lpstr>Standarddesign</vt:lpstr>
      <vt:lpstr>Project Proposal: MLRSNet Dataset</vt:lpstr>
      <vt:lpstr>Outline</vt:lpstr>
      <vt:lpstr>Quick Recap!</vt:lpstr>
      <vt:lpstr>Data Generator Implementation                                                        Source: Github</vt:lpstr>
      <vt:lpstr> Model Development                              Source: Original Paper on MLRSNet dataset. </vt:lpstr>
      <vt:lpstr>Improving CNN Training                        Source: Original Paper on MLRSNet dataset. </vt:lpstr>
      <vt:lpstr>Transfer Learning</vt:lpstr>
      <vt:lpstr> Model Evaluation                                   Source: Original Paper on MLRSNet dataset. </vt:lpstr>
      <vt:lpstr>Expected Results</vt:lpstr>
      <vt:lpstr>PowerPoint Presentation</vt:lpstr>
    </vt:vector>
  </TitlesOfParts>
  <Company>wir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Mehdi Maboudi</dc:creator>
  <cp:lastModifiedBy>Disha</cp:lastModifiedBy>
  <cp:revision>815</cp:revision>
  <cp:lastPrinted>2019-04-18T13:03:36Z</cp:lastPrinted>
  <dcterms:created xsi:type="dcterms:W3CDTF">2007-08-29T07:13:29Z</dcterms:created>
  <dcterms:modified xsi:type="dcterms:W3CDTF">2024-06-25T11:55:25Z</dcterms:modified>
</cp:coreProperties>
</file>